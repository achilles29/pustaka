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Play"/>
      <p:regular r:id="rId32"/>
      <p:bold r:id="rId33"/>
    </p:embeddedFont>
    <p:embeddedFont>
      <p:font typeface="Inter SemiBold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Plus Jakarta Sans"/>
      <p:regular r:id="rId42"/>
      <p:bold r:id="rId43"/>
      <p:italic r:id="rId44"/>
      <p:boldItalic r:id="rId45"/>
    </p:embeddedFont>
    <p:embeddedFont>
      <p:font typeface="Inter"/>
      <p:regular r:id="rId46"/>
      <p:bold r:id="rId47"/>
      <p:italic r:id="rId48"/>
      <p:boldItalic r:id="rId49"/>
    </p:embeddedFont>
    <p:embeddedFont>
      <p:font typeface="Plus Jakarta Sans SemiBold"/>
      <p:regular r:id="rId50"/>
      <p:bold r:id="rId51"/>
      <p:italic r:id="rId52"/>
      <p:boldItalic r:id="rId53"/>
    </p:embeddedFont>
    <p:embeddedFont>
      <p:font typeface="Helvetica Neue"/>
      <p:regular r:id="rId54"/>
      <p:bold r:id="rId55"/>
      <p:italic r:id="rId56"/>
      <p:boldItalic r:id="rId57"/>
    </p:embeddedFont>
    <p:embeddedFont>
      <p:font typeface="Poppins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geP11Ki/fbfDkV0LIVysN75ndc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25C365-0DA9-45B6-8982-4B473C1611FD}">
  <a:tblStyle styleId="{A725C365-0DA9-45B6-8982-4B473C1611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AFAAA4C-7DE7-4E7E-822A-92EBA2D56388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PlusJakartaSans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PlusJakartaSans-italic.fntdata"/><Relationship Id="rId43" Type="http://schemas.openxmlformats.org/officeDocument/2006/relationships/font" Target="fonts/PlusJakartaSans-bold.fntdata"/><Relationship Id="rId46" Type="http://schemas.openxmlformats.org/officeDocument/2006/relationships/font" Target="fonts/Inter-regular.fntdata"/><Relationship Id="rId45" Type="http://schemas.openxmlformats.org/officeDocument/2006/relationships/font" Target="fonts/PlusJakarta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Play-bold.fntdata"/><Relationship Id="rId32" Type="http://schemas.openxmlformats.org/officeDocument/2006/relationships/font" Target="fonts/Play-regular.fntdata"/><Relationship Id="rId35" Type="http://schemas.openxmlformats.org/officeDocument/2006/relationships/font" Target="fonts/InterSemiBold-bold.fntdata"/><Relationship Id="rId34" Type="http://schemas.openxmlformats.org/officeDocument/2006/relationships/font" Target="fonts/InterSemiBold-regular.fntdata"/><Relationship Id="rId37" Type="http://schemas.openxmlformats.org/officeDocument/2006/relationships/font" Target="fonts/InterSemiBold-boldItalic.fntdata"/><Relationship Id="rId36" Type="http://schemas.openxmlformats.org/officeDocument/2006/relationships/font" Target="fonts/InterSemiBold-italic.fntdata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62" Type="http://customschemas.google.com/relationships/presentationmetadata" Target="metadata"/><Relationship Id="rId61" Type="http://schemas.openxmlformats.org/officeDocument/2006/relationships/font" Target="fonts/PoppinsSemi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SemiBold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usJakartaSansSemiBold-bold.fntdata"/><Relationship Id="rId50" Type="http://schemas.openxmlformats.org/officeDocument/2006/relationships/font" Target="fonts/PlusJakartaSansSemiBold-regular.fntdata"/><Relationship Id="rId53" Type="http://schemas.openxmlformats.org/officeDocument/2006/relationships/font" Target="fonts/PlusJakartaSansSemiBold-boldItalic.fntdata"/><Relationship Id="rId52" Type="http://schemas.openxmlformats.org/officeDocument/2006/relationships/font" Target="fonts/PlusJakartaSansSemiBold-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54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57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59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58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Sumber: materi yang diberikan pengguna dalam percakapan. Angka pembatasan koleksi merupakan contoh sebagaimana materi pengguna.</a:t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Sumber: materi yang diberikan pengguna dalam percakapan. Angka pembatasan koleksi merupakan contoh sebagaimana materi pengguna.</a:t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Sumber: materi yang diberikan pengguna dalam percakapan. Angka pembatasan koleksi merupakan contoh sebagaimana materi pengguna.</a:t>
            </a:r>
            <a:endParaRPr/>
          </a:p>
        </p:txBody>
      </p:sp>
      <p:sp>
        <p:nvSpPr>
          <p:cNvPr id="238" name="Google Shape;2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8" name="Google Shape;29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8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8"/>
          <p:cNvSpPr/>
          <p:nvPr/>
        </p:nvSpPr>
        <p:spPr>
          <a:xfrm>
            <a:off x="-1" y="-1"/>
            <a:ext cx="6096000" cy="68580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video game&#10;&#10;Description automatically generated" id="25" name="Google Shape;2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69100"/>
            <a:ext cx="6095992" cy="17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8"/>
          <p:cNvSpPr/>
          <p:nvPr>
            <p:ph idx="2" type="pic"/>
          </p:nvPr>
        </p:nvSpPr>
        <p:spPr>
          <a:xfrm>
            <a:off x="6095994" y="1259999"/>
            <a:ext cx="6096005" cy="5250814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28"/>
          <p:cNvSpPr txBox="1"/>
          <p:nvPr>
            <p:ph idx="1" type="subTitle"/>
          </p:nvPr>
        </p:nvSpPr>
        <p:spPr>
          <a:xfrm>
            <a:off x="719275" y="3150000"/>
            <a:ext cx="5018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8"/>
          <p:cNvSpPr txBox="1"/>
          <p:nvPr>
            <p:ph type="ctrTitle"/>
          </p:nvPr>
        </p:nvSpPr>
        <p:spPr>
          <a:xfrm>
            <a:off x="719999" y="1260000"/>
            <a:ext cx="50148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3" type="body"/>
          </p:nvPr>
        </p:nvSpPr>
        <p:spPr>
          <a:xfrm>
            <a:off x="719275" y="4140000"/>
            <a:ext cx="50184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4" type="body"/>
          </p:nvPr>
        </p:nvSpPr>
        <p:spPr>
          <a:xfrm>
            <a:off x="719274" y="4950000"/>
            <a:ext cx="5018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8"/>
          <p:cNvSpPr/>
          <p:nvPr/>
        </p:nvSpPr>
        <p:spPr>
          <a:xfrm>
            <a:off x="-2" y="0"/>
            <a:ext cx="12192002" cy="1259998"/>
          </a:xfrm>
          <a:prstGeom prst="rect">
            <a:avLst/>
          </a:prstGeom>
          <a:gradFill>
            <a:gsLst>
              <a:gs pos="0">
                <a:srgbClr val="E8E8E8">
                  <a:alpha val="0"/>
                </a:srgbClr>
              </a:gs>
              <a:gs pos="25000">
                <a:srgbClr val="E8E8E8">
                  <a:alpha val="0"/>
                </a:srgbClr>
              </a:gs>
              <a:gs pos="50000">
                <a:srgbClr val="179948"/>
              </a:gs>
              <a:gs pos="75000">
                <a:srgbClr val="164997"/>
              </a:gs>
              <a:gs pos="100000">
                <a:srgbClr val="164997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go with a star and text&#10;&#10;Description automatically generated" id="32" name="Google Shape;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557" y="270000"/>
            <a:ext cx="142486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8"/>
          <p:cNvSpPr/>
          <p:nvPr/>
        </p:nvSpPr>
        <p:spPr>
          <a:xfrm>
            <a:off x="0" y="6501843"/>
            <a:ext cx="12192000" cy="365126"/>
          </a:xfrm>
          <a:prstGeom prst="rect">
            <a:avLst/>
          </a:prstGeom>
          <a:gradFill>
            <a:gsLst>
              <a:gs pos="0">
                <a:srgbClr val="179948"/>
              </a:gs>
              <a:gs pos="25000">
                <a:srgbClr val="164997"/>
              </a:gs>
              <a:gs pos="75000">
                <a:srgbClr val="164997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background with white letters&#10;&#10;Description automatically generated" id="34" name="Google Shape;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5633" y="6589281"/>
            <a:ext cx="5760718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35" name="Google Shape;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3200" y="396000"/>
            <a:ext cx="2250183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/>
          <p:nvPr>
            <p:ph type="title"/>
          </p:nvPr>
        </p:nvSpPr>
        <p:spPr>
          <a:xfrm>
            <a:off x="838200" y="810000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" type="body"/>
          </p:nvPr>
        </p:nvSpPr>
        <p:spPr>
          <a:xfrm>
            <a:off x="838200" y="1825624"/>
            <a:ext cx="10515600" cy="4552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128254" y="858012"/>
            <a:ext cx="1193549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793750" y="1611312"/>
            <a:ext cx="10604500" cy="45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11709755" y="6551888"/>
            <a:ext cx="257175" cy="23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/>
          <p:nvPr>
            <p:ph type="title"/>
          </p:nvPr>
        </p:nvSpPr>
        <p:spPr>
          <a:xfrm>
            <a:off x="838200" y="810000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" type="body"/>
          </p:nvPr>
        </p:nvSpPr>
        <p:spPr>
          <a:xfrm>
            <a:off x="838200" y="1800000"/>
            <a:ext cx="51816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2" type="body"/>
          </p:nvPr>
        </p:nvSpPr>
        <p:spPr>
          <a:xfrm>
            <a:off x="6172200" y="1800000"/>
            <a:ext cx="51816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Layout">
  <p:cSld name="Ending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34"/>
          <p:cNvSpPr/>
          <p:nvPr/>
        </p:nvSpPr>
        <p:spPr>
          <a:xfrm>
            <a:off x="-2" y="-1"/>
            <a:ext cx="12191999" cy="68580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video game&#10;&#10;Description automatically generated" id="61" name="Google Shape;61;p34"/>
          <p:cNvPicPr preferRelativeResize="0"/>
          <p:nvPr/>
        </p:nvPicPr>
        <p:blipFill rotWithShape="1">
          <a:blip r:embed="rId2">
            <a:alphaModFix/>
          </a:blip>
          <a:srcRect b="0" l="0" r="37804" t="-13921"/>
          <a:stretch/>
        </p:blipFill>
        <p:spPr>
          <a:xfrm>
            <a:off x="1" y="477611"/>
            <a:ext cx="12192000" cy="638038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4"/>
          <p:cNvSpPr/>
          <p:nvPr/>
        </p:nvSpPr>
        <p:spPr>
          <a:xfrm>
            <a:off x="0" y="6138000"/>
            <a:ext cx="12192000" cy="720000"/>
          </a:xfrm>
          <a:prstGeom prst="rect">
            <a:avLst/>
          </a:prstGeom>
          <a:gradFill>
            <a:gsLst>
              <a:gs pos="0">
                <a:srgbClr val="179948">
                  <a:alpha val="90196"/>
                </a:srgbClr>
              </a:gs>
              <a:gs pos="25000">
                <a:srgbClr val="164997">
                  <a:alpha val="90196"/>
                </a:srgbClr>
              </a:gs>
              <a:gs pos="75000">
                <a:srgbClr val="164997">
                  <a:alpha val="90196"/>
                </a:srgbClr>
              </a:gs>
              <a:gs pos="100000">
                <a:srgbClr val="E8E8E8">
                  <a:alpha val="9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background with white letters&#10;&#10;Description automatically generated" id="63" name="Google Shape;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9566" y="6390000"/>
            <a:ext cx="6912861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4"/>
          <p:cNvSpPr txBox="1"/>
          <p:nvPr>
            <p:ph type="title"/>
          </p:nvPr>
        </p:nvSpPr>
        <p:spPr>
          <a:xfrm>
            <a:off x="1079999" y="1800000"/>
            <a:ext cx="100332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logo with a star and text&#10;&#10;Description automatically generated" id="65" name="Google Shape;6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999" y="540000"/>
            <a:ext cx="1709836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green text on a black background&#10;&#10;Description automatically generated" id="66" name="Google Shape;6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6792" y="765000"/>
            <a:ext cx="2625209" cy="6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5"/>
          <p:cNvSpPr/>
          <p:nvPr/>
        </p:nvSpPr>
        <p:spPr>
          <a:xfrm>
            <a:off x="-2" y="711518"/>
            <a:ext cx="12192001" cy="578648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video game&#10;&#10;Description automatically generated" id="69" name="Google Shape;6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014571"/>
            <a:ext cx="12192000" cy="348342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5"/>
          <p:cNvSpPr txBox="1"/>
          <p:nvPr>
            <p:ph type="title"/>
          </p:nvPr>
        </p:nvSpPr>
        <p:spPr>
          <a:xfrm>
            <a:off x="831850" y="810000"/>
            <a:ext cx="105156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6"/>
          <p:cNvSpPr txBox="1"/>
          <p:nvPr>
            <p:ph type="title"/>
          </p:nvPr>
        </p:nvSpPr>
        <p:spPr>
          <a:xfrm>
            <a:off x="839788" y="810000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839788" y="1800000"/>
            <a:ext cx="5157787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36"/>
          <p:cNvSpPr txBox="1"/>
          <p:nvPr>
            <p:ph idx="2" type="body"/>
          </p:nvPr>
        </p:nvSpPr>
        <p:spPr>
          <a:xfrm>
            <a:off x="839788" y="2520000"/>
            <a:ext cx="5157787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3" type="body"/>
          </p:nvPr>
        </p:nvSpPr>
        <p:spPr>
          <a:xfrm>
            <a:off x="6172200" y="1800000"/>
            <a:ext cx="5183188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36"/>
          <p:cNvSpPr txBox="1"/>
          <p:nvPr>
            <p:ph idx="4" type="body"/>
          </p:nvPr>
        </p:nvSpPr>
        <p:spPr>
          <a:xfrm>
            <a:off x="6172200" y="2520000"/>
            <a:ext cx="5183188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7"/>
          <p:cNvSpPr txBox="1"/>
          <p:nvPr>
            <p:ph type="title"/>
          </p:nvPr>
        </p:nvSpPr>
        <p:spPr>
          <a:xfrm>
            <a:off x="838200" y="810000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/>
          <p:nvPr>
            <p:ph type="title"/>
          </p:nvPr>
        </p:nvSpPr>
        <p:spPr>
          <a:xfrm>
            <a:off x="839788" y="810000"/>
            <a:ext cx="393223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" type="body"/>
          </p:nvPr>
        </p:nvSpPr>
        <p:spPr>
          <a:xfrm>
            <a:off x="5183188" y="810000"/>
            <a:ext cx="6172200" cy="5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p38"/>
          <p:cNvSpPr txBox="1"/>
          <p:nvPr>
            <p:ph idx="2" type="body"/>
          </p:nvPr>
        </p:nvSpPr>
        <p:spPr>
          <a:xfrm>
            <a:off x="839788" y="1980000"/>
            <a:ext cx="3932237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8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9"/>
          <p:cNvSpPr txBox="1"/>
          <p:nvPr>
            <p:ph type="title"/>
          </p:nvPr>
        </p:nvSpPr>
        <p:spPr>
          <a:xfrm>
            <a:off x="839788" y="810000"/>
            <a:ext cx="393223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/>
          <p:nvPr>
            <p:ph idx="2" type="pic"/>
          </p:nvPr>
        </p:nvSpPr>
        <p:spPr>
          <a:xfrm>
            <a:off x="5183188" y="810000"/>
            <a:ext cx="6172200" cy="5579999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839788" y="1980000"/>
            <a:ext cx="3932237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39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F7F7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7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chemeClr val="lt2"/>
              </a:gs>
              <a:gs pos="50000">
                <a:schemeClr val="lt2"/>
              </a:gs>
              <a:gs pos="70000">
                <a:srgbClr val="179948"/>
              </a:gs>
              <a:gs pos="90000">
                <a:srgbClr val="164997"/>
              </a:gs>
              <a:gs pos="100000">
                <a:srgbClr val="164997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background with white text&#10;&#10;Description automatically generated" id="16" name="Google Shape;16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332000" y="198000"/>
            <a:ext cx="1500122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17" name="Google Shape;1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0000" y="90000"/>
            <a:ext cx="1789002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3847" y="6631200"/>
            <a:ext cx="1184306" cy="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6678" y="6631200"/>
            <a:ext cx="3518530" cy="10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jpg"/><Relationship Id="rId5" Type="http://schemas.openxmlformats.org/officeDocument/2006/relationships/image" Target="../media/image21.png"/><Relationship Id="rId6" Type="http://schemas.openxmlformats.org/officeDocument/2006/relationships/image" Target="../media/image42.png"/><Relationship Id="rId7" Type="http://schemas.openxmlformats.org/officeDocument/2006/relationships/image" Target="../media/image7.png"/><Relationship Id="rId8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45.png"/><Relationship Id="rId6" Type="http://schemas.openxmlformats.org/officeDocument/2006/relationships/image" Target="../media/image29.png"/><Relationship Id="rId7" Type="http://schemas.openxmlformats.org/officeDocument/2006/relationships/image" Target="../media/image53.png"/><Relationship Id="rId8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5" Type="http://schemas.openxmlformats.org/officeDocument/2006/relationships/image" Target="../media/image33.png"/><Relationship Id="rId6" Type="http://schemas.openxmlformats.org/officeDocument/2006/relationships/image" Target="../media/image39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children reading books under sunlight&#10;&#10;Description automatically generated" id="101" name="Google Shape;101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940" l="0" r="0" t="6940"/>
          <a:stretch/>
        </p:blipFill>
        <p:spPr>
          <a:xfrm>
            <a:off x="6095994" y="1259999"/>
            <a:ext cx="6096005" cy="52508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idx="3" type="body"/>
          </p:nvPr>
        </p:nvSpPr>
        <p:spPr>
          <a:xfrm>
            <a:off x="400050" y="4106359"/>
            <a:ext cx="5537612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latin typeface="Poppins"/>
                <a:ea typeface="Poppins"/>
                <a:cs typeface="Poppins"/>
                <a:sym typeface="Poppins"/>
              </a:rPr>
              <a:t>Irhamni Ali, S.Hum, MP, Ph.D</a:t>
            </a:r>
            <a:endParaRPr b="1"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Poppins"/>
                <a:ea typeface="Poppins"/>
                <a:cs typeface="Poppins"/>
                <a:sym typeface="Poppins"/>
              </a:rPr>
              <a:t>Ketua Kelompok Analisis Perpustakaan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Poppins"/>
                <a:ea typeface="Poppins"/>
                <a:cs typeface="Poppins"/>
                <a:sym typeface="Poppins"/>
              </a:rPr>
              <a:t>Disampaikan Pda Workshop IPLM &amp; TKM Kemendagri 2026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400050" y="1814839"/>
            <a:ext cx="4791075" cy="2070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Pelaksanaan Pengukuran IPLM &amp; TKM Tahun 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2685573" y="2462212"/>
            <a:ext cx="682085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Konsep Utama &amp; Prinsip Kerja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2524125" y="3690937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Pengumpulan data yang berkelanjutan untuk menghasilkan pemetaan literasi daerah yang valid, presisi, dan akuntabel.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1341"/>
            <a:ext cx="5372100" cy="2750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2401341"/>
            <a:ext cx="5372100" cy="275064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923925" y="2715666"/>
            <a:ext cx="49406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 SemiBold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5 Prinsip Utama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23925" y="3077616"/>
            <a:ext cx="470535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Ketepatan Sasaran: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Target perpustakaan &amp; sampel tepat.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923925" y="3428107"/>
            <a:ext cx="470535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Kelengkapan: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Seluruh variabel terisi sempurna.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923925" y="3778597"/>
            <a:ext cx="470535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Validitas &amp; Kewajaran: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Terverifikasi dan masuk akal.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923925" y="4129087"/>
            <a:ext cx="470535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Konsistensi: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Tidak ada pertentangan antar variabel.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23925" y="4479577"/>
            <a:ext cx="470535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Ketepatan Waktu: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Sesuai batas penyampaian resmi.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600825" y="2715666"/>
            <a:ext cx="49406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 SemiBold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Tugas Persiapan PIC Daerah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600825" y="3077616"/>
            <a:ext cx="47053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Koordinasi Internal: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Menghubungi perangkat daerah terkait &amp; sasaran perpustakaan.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600825" y="3664297"/>
            <a:ext cx="47053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Pemahaman Instrumen: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Menguasai definisi operasional setiap variabel.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600825" y="4250977"/>
            <a:ext cx="47053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Identifikasi Sumber Data: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Memetakan data SDM, koleksi, layanan, dan responden TKM.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571500" y="1089667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Plus Jakarta Sans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Persiapan &amp; Prinsip Pengukuran IPLM dan TKM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350" y="2307877"/>
            <a:ext cx="27813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2345531" y="2888902"/>
            <a:ext cx="7500937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Pengambilan Data IPLM</a:t>
            </a:r>
            <a:endParaRPr b="1" i="0" sz="4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966912"/>
            <a:ext cx="53721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925" y="1976437"/>
            <a:ext cx="5353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457200" y="966372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400"/>
              <a:buFont typeface="Plus Jakarta Sans"/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Pengumpulan Data IPLM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457200" y="1664122"/>
            <a:ext cx="520733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 Daerah wajib melakukan pemutakhiran data perpustakaan aktual untuk periode pengukuran 2026, dengan cakupan Data IPLM: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Keberadaan dan kondisi koleksi perpustakaan.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Sumber Daya Manusia (SDM) / Pengelola perpustakaan.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Penyelenggaraan, pemanfaatan layanan &amp; pengelolaan.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Karakteristik cakupan &amp; bukti pendukung verifikasi.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294678" y="2979000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Indikator dan </a:t>
            </a:r>
            <a:br>
              <a:rPr lang="en-US"/>
            </a:br>
            <a:r>
              <a:rPr lang="en-US"/>
              <a:t>Pembobotan </a:t>
            </a:r>
            <a:br>
              <a:rPr lang="en-US"/>
            </a:br>
            <a:r>
              <a:rPr lang="en-US"/>
              <a:t>IPLM</a:t>
            </a:r>
            <a:endParaRPr/>
          </a:p>
        </p:txBody>
      </p: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154" y="776178"/>
            <a:ext cx="8335926" cy="562535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KAJIAN PERPUSTAKAAN INDONESIA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7"/>
          <p:cNvGrpSpPr/>
          <p:nvPr/>
        </p:nvGrpSpPr>
        <p:grpSpPr>
          <a:xfrm>
            <a:off x="5374857" y="4997346"/>
            <a:ext cx="1685037" cy="1389803"/>
            <a:chOff x="6255351" y="2014431"/>
            <a:chExt cx="1685037" cy="1389803"/>
          </a:xfrm>
        </p:grpSpPr>
        <p:sp>
          <p:nvSpPr>
            <p:cNvPr id="156" name="Google Shape;156;p7"/>
            <p:cNvSpPr/>
            <p:nvPr/>
          </p:nvSpPr>
          <p:spPr>
            <a:xfrm>
              <a:off x="6255351" y="2014431"/>
              <a:ext cx="1685037" cy="1389803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"/>
            <p:cNvSpPr txBox="1"/>
            <p:nvPr/>
          </p:nvSpPr>
          <p:spPr>
            <a:xfrm>
              <a:off x="6287334" y="2344229"/>
              <a:ext cx="1621071" cy="102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050" lIns="59050" spcFirstLastPara="1" rIns="59050" wrap="square" tIns="59050">
              <a:noAutofit/>
            </a:bodyPr>
            <a:lstStyle/>
            <a:p>
              <a:pPr indent="-889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t/>
              </a:r>
              <a:endPara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88900" lvl="1" marL="285750" marR="0" rtl="0" algn="l">
                <a:lnSpc>
                  <a:spcPct val="90000"/>
                </a:lnSpc>
                <a:spcBef>
                  <a:spcPts val="465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t/>
              </a:r>
              <a:endPara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7"/>
          <p:cNvSpPr txBox="1"/>
          <p:nvPr>
            <p:ph type="title"/>
          </p:nvPr>
        </p:nvSpPr>
        <p:spPr>
          <a:xfrm>
            <a:off x="0" y="885156"/>
            <a:ext cx="12192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lang="en-US"/>
              <a:t>Arsitektur Sistem IPLM dan TKM</a:t>
            </a:r>
            <a:endParaRPr/>
          </a:p>
        </p:txBody>
      </p:sp>
      <p:grpSp>
        <p:nvGrpSpPr>
          <p:cNvPr id="159" name="Google Shape;159;p7"/>
          <p:cNvGrpSpPr/>
          <p:nvPr/>
        </p:nvGrpSpPr>
        <p:grpSpPr>
          <a:xfrm>
            <a:off x="627476" y="1563324"/>
            <a:ext cx="8127228" cy="2974405"/>
            <a:chOff x="385" y="1194884"/>
            <a:chExt cx="8127228" cy="2974405"/>
          </a:xfrm>
        </p:grpSpPr>
        <p:sp>
          <p:nvSpPr>
            <p:cNvPr id="160" name="Google Shape;160;p7"/>
            <p:cNvSpPr/>
            <p:nvPr/>
          </p:nvSpPr>
          <p:spPr>
            <a:xfrm>
              <a:off x="385" y="2014431"/>
              <a:ext cx="1685037" cy="1389803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32368" y="2046414"/>
              <a:ext cx="1621071" cy="102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75" lIns="74275" spcFirstLastPara="1" rIns="74275" wrap="square" tIns="74275">
              <a:noAutofit/>
            </a:bodyPr>
            <a:lstStyle/>
            <a:p>
              <a:pPr indent="-381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t/>
              </a:r>
              <a:endParaRPr b="0" i="0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967418" y="2417583"/>
              <a:ext cx="1751706" cy="1751706"/>
            </a:xfrm>
            <a:custGeom>
              <a:rect b="b" l="l" r="r" t="t"/>
              <a:pathLst>
                <a:path extrusionOk="0" h="120000" w="120000">
                  <a:moveTo>
                    <a:pt x="9600" y="88622"/>
                  </a:moveTo>
                  <a:lnTo>
                    <a:pt x="12261" y="87111"/>
                  </a:lnTo>
                  <a:lnTo>
                    <a:pt x="12261" y="87111"/>
                  </a:lnTo>
                  <a:cubicBezTo>
                    <a:pt x="21568" y="103500"/>
                    <a:pt x="38633" y="113970"/>
                    <a:pt x="57461" y="114841"/>
                  </a:cubicBezTo>
                  <a:cubicBezTo>
                    <a:pt x="76289" y="115713"/>
                    <a:pt x="94248" y="106865"/>
                    <a:pt x="105030" y="91405"/>
                  </a:cubicBezTo>
                  <a:lnTo>
                    <a:pt x="103262" y="90401"/>
                  </a:lnTo>
                  <a:lnTo>
                    <a:pt x="109070" y="87866"/>
                  </a:lnTo>
                  <a:lnTo>
                    <a:pt x="109470" y="93927"/>
                  </a:lnTo>
                  <a:lnTo>
                    <a:pt x="107702" y="92923"/>
                  </a:lnTo>
                  <a:lnTo>
                    <a:pt x="107702" y="92923"/>
                  </a:lnTo>
                  <a:cubicBezTo>
                    <a:pt x="96370" y="109341"/>
                    <a:pt x="77391" y="118778"/>
                    <a:pt x="57461" y="117904"/>
                  </a:cubicBezTo>
                  <a:cubicBezTo>
                    <a:pt x="37531" y="117031"/>
                    <a:pt x="19451" y="105969"/>
                    <a:pt x="9600" y="88622"/>
                  </a:cubicBezTo>
                  <a:close/>
                </a:path>
              </a:pathLst>
            </a:cu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374837" y="3106420"/>
              <a:ext cx="1497810" cy="59563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 txBox="1"/>
            <p:nvPr/>
          </p:nvSpPr>
          <p:spPr>
            <a:xfrm>
              <a:off x="392282" y="3123865"/>
              <a:ext cx="1462920" cy="56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36175" spcFirstLastPara="1" rIns="361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Collecting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2085373" y="2014431"/>
              <a:ext cx="1685037" cy="1389803"/>
            </a:xfrm>
            <a:prstGeom prst="roundRect">
              <a:avLst>
                <a:gd fmla="val 10000" name="adj"/>
              </a:avLst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 txBox="1"/>
            <p:nvPr/>
          </p:nvSpPr>
          <p:spPr>
            <a:xfrm>
              <a:off x="2117356" y="2344229"/>
              <a:ext cx="1621071" cy="102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75" lIns="74275" spcFirstLastPara="1" rIns="74275" wrap="square" tIns="74275">
              <a:noAutofit/>
            </a:bodyPr>
            <a:lstStyle/>
            <a:p>
              <a:pPr indent="-381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t/>
              </a:r>
              <a:endParaRPr b="0" i="0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3038365" y="1194884"/>
              <a:ext cx="1967016" cy="1967016"/>
            </a:xfrm>
            <a:custGeom>
              <a:rect b="b" l="l" r="r" t="t"/>
              <a:pathLst>
                <a:path extrusionOk="0" h="120000" w="120000">
                  <a:moveTo>
                    <a:pt x="9406" y="31268"/>
                  </a:moveTo>
                  <a:lnTo>
                    <a:pt x="9406" y="31268"/>
                  </a:lnTo>
                  <a:cubicBezTo>
                    <a:pt x="19346" y="13766"/>
                    <a:pt x="37626" y="2644"/>
                    <a:pt x="57738" y="1861"/>
                  </a:cubicBezTo>
                  <a:cubicBezTo>
                    <a:pt x="77851" y="1079"/>
                    <a:pt x="96939" y="10747"/>
                    <a:pt x="108208" y="27424"/>
                  </a:cubicBezTo>
                  <a:lnTo>
                    <a:pt x="109785" y="26529"/>
                  </a:lnTo>
                  <a:lnTo>
                    <a:pt x="109409" y="31941"/>
                  </a:lnTo>
                  <a:lnTo>
                    <a:pt x="104255" y="29670"/>
                  </a:lnTo>
                  <a:lnTo>
                    <a:pt x="105831" y="28774"/>
                  </a:lnTo>
                  <a:lnTo>
                    <a:pt x="105831" y="28774"/>
                  </a:lnTo>
                  <a:cubicBezTo>
                    <a:pt x="95050" y="12951"/>
                    <a:pt x="76869" y="3808"/>
                    <a:pt x="57738" y="4589"/>
                  </a:cubicBezTo>
                  <a:cubicBezTo>
                    <a:pt x="38607" y="5370"/>
                    <a:pt x="21231" y="15964"/>
                    <a:pt x="11776" y="32614"/>
                  </a:cubicBezTo>
                  <a:close/>
                </a:path>
              </a:pathLst>
            </a:cu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2459826" y="1716616"/>
              <a:ext cx="1497810" cy="59563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2477271" y="1734061"/>
              <a:ext cx="1462920" cy="56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36175" spcFirstLastPara="1" rIns="361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Storage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4170362" y="2014431"/>
              <a:ext cx="1685037" cy="1389803"/>
            </a:xfrm>
            <a:prstGeom prst="roundRect">
              <a:avLst>
                <a:gd fmla="val 10000" name="adj"/>
              </a:avLst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4202345" y="2046414"/>
              <a:ext cx="1621071" cy="102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75" lIns="74275" spcFirstLastPara="1" rIns="74275" wrap="square" tIns="74275">
              <a:noAutofit/>
            </a:bodyPr>
            <a:lstStyle/>
            <a:p>
              <a:pPr indent="-381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t/>
              </a:r>
              <a:endParaRPr b="0" i="0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5137396" y="1716616"/>
              <a:ext cx="1662188" cy="2452673"/>
            </a:xfrm>
            <a:custGeom>
              <a:rect b="b" l="l" r="r" t="t"/>
              <a:pathLst>
                <a:path extrusionOk="0" h="120000" w="120000">
                  <a:moveTo>
                    <a:pt x="9600" y="88622"/>
                  </a:moveTo>
                  <a:lnTo>
                    <a:pt x="12261" y="87111"/>
                  </a:lnTo>
                  <a:lnTo>
                    <a:pt x="12261" y="87111"/>
                  </a:lnTo>
                  <a:cubicBezTo>
                    <a:pt x="21568" y="103500"/>
                    <a:pt x="38633" y="113970"/>
                    <a:pt x="57461" y="114841"/>
                  </a:cubicBezTo>
                  <a:cubicBezTo>
                    <a:pt x="76289" y="115713"/>
                    <a:pt x="94248" y="106865"/>
                    <a:pt x="105030" y="91405"/>
                  </a:cubicBezTo>
                  <a:lnTo>
                    <a:pt x="103262" y="90401"/>
                  </a:lnTo>
                  <a:lnTo>
                    <a:pt x="109070" y="87866"/>
                  </a:lnTo>
                  <a:lnTo>
                    <a:pt x="109470" y="93927"/>
                  </a:lnTo>
                  <a:lnTo>
                    <a:pt x="107702" y="92923"/>
                  </a:lnTo>
                  <a:lnTo>
                    <a:pt x="107702" y="92923"/>
                  </a:lnTo>
                  <a:cubicBezTo>
                    <a:pt x="96370" y="109341"/>
                    <a:pt x="77391" y="118778"/>
                    <a:pt x="57461" y="117904"/>
                  </a:cubicBezTo>
                  <a:cubicBezTo>
                    <a:pt x="37531" y="117031"/>
                    <a:pt x="19451" y="105969"/>
                    <a:pt x="9600" y="88622"/>
                  </a:cubicBezTo>
                  <a:close/>
                </a:path>
              </a:pathLst>
            </a:cu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4544815" y="3106420"/>
              <a:ext cx="1497810" cy="59563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 txBox="1"/>
            <p:nvPr/>
          </p:nvSpPr>
          <p:spPr>
            <a:xfrm>
              <a:off x="4562260" y="3123865"/>
              <a:ext cx="1462920" cy="56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36175" spcFirstLastPara="1" rIns="361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Cleaning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6255351" y="2014431"/>
              <a:ext cx="1685037" cy="1389803"/>
            </a:xfrm>
            <a:prstGeom prst="roundRect">
              <a:avLst>
                <a:gd fmla="val 10000" name="adj"/>
              </a:avLst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 txBox="1"/>
            <p:nvPr/>
          </p:nvSpPr>
          <p:spPr>
            <a:xfrm>
              <a:off x="6287334" y="2344229"/>
              <a:ext cx="1621071" cy="102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75" lIns="74275" spcFirstLastPara="1" rIns="74275" wrap="square" tIns="74275">
              <a:noAutofit/>
            </a:bodyPr>
            <a:lstStyle/>
            <a:p>
              <a:pPr indent="-381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t/>
              </a:r>
              <a:endParaRPr b="0" i="0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6629803" y="1716616"/>
              <a:ext cx="1497810" cy="59563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6647248" y="1734061"/>
              <a:ext cx="1462920" cy="56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36175" spcFirstLastPara="1" rIns="361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Visualization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5658546" y="4648527"/>
            <a:ext cx="1497810" cy="595630"/>
            <a:chOff x="4544815" y="3106420"/>
            <a:chExt cx="1497810" cy="595630"/>
          </a:xfrm>
        </p:grpSpPr>
        <p:sp>
          <p:nvSpPr>
            <p:cNvPr id="180" name="Google Shape;180;p7"/>
            <p:cNvSpPr/>
            <p:nvPr/>
          </p:nvSpPr>
          <p:spPr>
            <a:xfrm>
              <a:off x="4544815" y="3106420"/>
              <a:ext cx="1497810" cy="59563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4562260" y="3123865"/>
              <a:ext cx="1462920" cy="56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36175" spcFirstLastPara="1" rIns="361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Analytics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7"/>
          <p:cNvSpPr/>
          <p:nvPr/>
        </p:nvSpPr>
        <p:spPr>
          <a:xfrm rot="2935877">
            <a:off x="4530334" y="3606958"/>
            <a:ext cx="1689046" cy="1466496"/>
          </a:xfrm>
          <a:custGeom>
            <a:rect b="b" l="l" r="r" t="t"/>
            <a:pathLst>
              <a:path extrusionOk="0" h="120000" w="120000">
                <a:moveTo>
                  <a:pt x="3131" y="73835"/>
                </a:moveTo>
                <a:lnTo>
                  <a:pt x="5278" y="73313"/>
                </a:lnTo>
                <a:lnTo>
                  <a:pt x="5278" y="73313"/>
                </a:lnTo>
                <a:cubicBezTo>
                  <a:pt x="10187" y="92427"/>
                  <a:pt x="25242" y="107515"/>
                  <a:pt x="44728" y="112849"/>
                </a:cubicBezTo>
                <a:cubicBezTo>
                  <a:pt x="64214" y="118184"/>
                  <a:pt x="85143" y="112946"/>
                  <a:pt x="99569" y="99125"/>
                </a:cubicBezTo>
                <a:lnTo>
                  <a:pt x="98408" y="98189"/>
                </a:lnTo>
                <a:lnTo>
                  <a:pt x="104435" y="95800"/>
                </a:lnTo>
                <a:lnTo>
                  <a:pt x="102784" y="101715"/>
                </a:lnTo>
                <a:lnTo>
                  <a:pt x="101618" y="100776"/>
                </a:lnTo>
                <a:cubicBezTo>
                  <a:pt x="86709" y="115682"/>
                  <a:pt x="64826" y="121453"/>
                  <a:pt x="44399" y="115865"/>
                </a:cubicBezTo>
                <a:cubicBezTo>
                  <a:pt x="23972" y="110278"/>
                  <a:pt x="8189" y="94203"/>
                  <a:pt x="3131" y="73835"/>
                </a:cubicBezTo>
                <a:close/>
              </a:path>
            </a:pathLst>
          </a:custGeom>
          <a:solidFill>
            <a:srgbClr val="B1C0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 flipH="1" rot="9689287">
            <a:off x="7027217" y="4948848"/>
            <a:ext cx="1800316" cy="1106383"/>
          </a:xfrm>
          <a:custGeom>
            <a:rect b="b" l="l" r="r" t="t"/>
            <a:pathLst>
              <a:path extrusionOk="0" h="120000" w="120000">
                <a:moveTo>
                  <a:pt x="2969" y="70851"/>
                </a:moveTo>
                <a:lnTo>
                  <a:pt x="5689" y="70333"/>
                </a:lnTo>
                <a:lnTo>
                  <a:pt x="5689" y="70333"/>
                </a:lnTo>
                <a:cubicBezTo>
                  <a:pt x="9780" y="91439"/>
                  <a:pt x="25948" y="108225"/>
                  <a:pt x="47036" y="113263"/>
                </a:cubicBezTo>
                <a:cubicBezTo>
                  <a:pt x="68125" y="118301"/>
                  <a:pt x="90239" y="110659"/>
                  <a:pt x="103589" y="93720"/>
                </a:cubicBezTo>
                <a:lnTo>
                  <a:pt x="101926" y="92672"/>
                </a:lnTo>
                <a:lnTo>
                  <a:pt x="107869" y="90162"/>
                </a:lnTo>
                <a:lnTo>
                  <a:pt x="107695" y="96307"/>
                </a:lnTo>
                <a:lnTo>
                  <a:pt x="106031" y="95259"/>
                </a:lnTo>
                <a:lnTo>
                  <a:pt x="106031" y="95259"/>
                </a:lnTo>
                <a:cubicBezTo>
                  <a:pt x="92095" y="113320"/>
                  <a:pt x="68818" y="121550"/>
                  <a:pt x="46573" y="116282"/>
                </a:cubicBezTo>
                <a:cubicBezTo>
                  <a:pt x="24328" y="111013"/>
                  <a:pt x="7257" y="93228"/>
                  <a:pt x="2969" y="70851"/>
                </a:cubicBezTo>
                <a:close/>
              </a:path>
            </a:pathLst>
          </a:custGeom>
          <a:solidFill>
            <a:srgbClr val="B1C0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7"/>
          <p:cNvGrpSpPr/>
          <p:nvPr/>
        </p:nvGrpSpPr>
        <p:grpSpPr>
          <a:xfrm>
            <a:off x="8557157" y="4078987"/>
            <a:ext cx="1685037" cy="1389803"/>
            <a:chOff x="6255351" y="2014431"/>
            <a:chExt cx="1685037" cy="1389803"/>
          </a:xfrm>
        </p:grpSpPr>
        <p:sp>
          <p:nvSpPr>
            <p:cNvPr id="185" name="Google Shape;185;p7"/>
            <p:cNvSpPr/>
            <p:nvPr/>
          </p:nvSpPr>
          <p:spPr>
            <a:xfrm>
              <a:off x="6255351" y="2014431"/>
              <a:ext cx="1685037" cy="1389803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6287334" y="2344229"/>
              <a:ext cx="1621071" cy="102802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59050" lIns="59050" spcFirstLastPara="1" rIns="59050" wrap="square" tIns="59050">
              <a:noAutofit/>
            </a:bodyPr>
            <a:lstStyle/>
            <a:p>
              <a:pPr indent="-889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t/>
              </a:r>
              <a:endPara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88900" lvl="1" marL="285750" marR="0" rtl="0" algn="l">
                <a:lnSpc>
                  <a:spcPct val="90000"/>
                </a:lnSpc>
                <a:spcBef>
                  <a:spcPts val="465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t/>
              </a:r>
              <a:endPara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7"/>
          <p:cNvGrpSpPr/>
          <p:nvPr/>
        </p:nvGrpSpPr>
        <p:grpSpPr>
          <a:xfrm>
            <a:off x="9319345" y="3738762"/>
            <a:ext cx="1621070" cy="590299"/>
            <a:chOff x="4544815" y="3106420"/>
            <a:chExt cx="1497810" cy="595630"/>
          </a:xfrm>
        </p:grpSpPr>
        <p:sp>
          <p:nvSpPr>
            <p:cNvPr id="188" name="Google Shape;188;p7"/>
            <p:cNvSpPr/>
            <p:nvPr/>
          </p:nvSpPr>
          <p:spPr>
            <a:xfrm>
              <a:off x="4544815" y="3106420"/>
              <a:ext cx="1497810" cy="59563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 txBox="1"/>
            <p:nvPr/>
          </p:nvSpPr>
          <p:spPr>
            <a:xfrm>
              <a:off x="4562260" y="3123865"/>
              <a:ext cx="1462920" cy="56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36175" spcFirstLastPara="1" rIns="361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Deployment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7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/>
              <a:t>KAJIAN PERPUSTAKAAN INDONESIA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0" y="2074783"/>
            <a:ext cx="121920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lang="en-US"/>
              <a:t>Pengumpulan Data</a:t>
            </a:r>
            <a:br>
              <a:rPr lang="en-US"/>
            </a:br>
            <a:r>
              <a:rPr lang="en-US"/>
              <a:t>1 Oktober s.d 30 Nopember 2026</a:t>
            </a:r>
            <a:br>
              <a:rPr lang="en-US"/>
            </a:br>
            <a:r>
              <a:rPr lang="en-US"/>
              <a:t>Periode data </a:t>
            </a:r>
            <a:br>
              <a:rPr lang="en-US"/>
            </a:br>
            <a:r>
              <a:rPr lang="en-US"/>
              <a:t>30 September 2025 s.d 30 September  2026</a:t>
            </a:r>
            <a:endParaRPr/>
          </a:p>
        </p:txBody>
      </p:sp>
      <p:sp>
        <p:nvSpPr>
          <p:cNvPr id="196" name="Google Shape;196;p8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/>
              <a:t>KAJIAN PERPUSTAKAAN INDONESIA 2025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160019" y="880588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B6657"/>
                </a:solidFill>
              </a:rPr>
              <a:t>Pengumpulan data</a:t>
            </a:r>
            <a:endParaRPr sz="3600"/>
          </a:p>
        </p:txBody>
      </p:sp>
      <p:sp>
        <p:nvSpPr>
          <p:cNvPr id="203" name="Google Shape;203;p9"/>
          <p:cNvSpPr txBox="1"/>
          <p:nvPr>
            <p:ph idx="1" type="body"/>
          </p:nvPr>
        </p:nvSpPr>
        <p:spPr>
          <a:xfrm>
            <a:off x="4610101" y="777239"/>
            <a:ext cx="7421880" cy="5766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None/>
            </a:pPr>
            <a:r>
              <a:rPr b="1" lang="en-US" sz="1725">
                <a:solidFill>
                  <a:srgbClr val="0B6657"/>
                </a:solidFill>
              </a:rPr>
              <a:t>Pengumpulan data yang dilakukan oleh Perpustakaan Provinsi meliputi:</a:t>
            </a:r>
            <a:endParaRPr b="1" sz="1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sekolah menengah atas/sederajat;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SLB seluruh jenjang </a:t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umum provinsi.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Perpustakaan khusus dibawah kewenangan provinsi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B6657"/>
              </a:buClr>
              <a:buSzPts val="1725"/>
              <a:buNone/>
            </a:pPr>
            <a:r>
              <a:rPr b="1" lang="en-US" sz="1725">
                <a:solidFill>
                  <a:srgbClr val="0B6657"/>
                </a:solidFill>
              </a:rPr>
              <a:t>Pengumpulan data yang dilakukan oleh Perpustakaan Kabupaten/Kota meliputi:</a:t>
            </a:r>
            <a:endParaRPr b="1"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sekolah menengah pertama/sederajat;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sekolah dasar/sederajat;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umum kabupaten/kota;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kecamatan;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perpustakaan desa/kelurahan; dan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data TBM 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6657"/>
              </a:buClr>
              <a:buSzPts val="1725"/>
              <a:buFont typeface="Play"/>
              <a:buAutoNum type="arabicParenBoth"/>
            </a:pPr>
            <a:r>
              <a:rPr b="1" lang="en-US" sz="1725">
                <a:solidFill>
                  <a:srgbClr val="0B6657"/>
                </a:solidFill>
              </a:rPr>
              <a:t>Perpustakaan khusus dibawah kewenangan kab/kota</a:t>
            </a:r>
            <a:endParaRPr sz="1400"/>
          </a:p>
          <a:p>
            <a:pPr indent="1016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04" name="Google Shape;204;p9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</a:rPr>
              <a:t>‹#›</a:t>
            </a:fld>
            <a:endParaRPr/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0612"/>
            <a:ext cx="4876800" cy="4876800"/>
          </a:xfrm>
          <a:prstGeom prst="roundRect">
            <a:avLst>
              <a:gd fmla="val 2344" name="adj"/>
            </a:avLst>
          </a:prstGeom>
          <a:noFill/>
          <a:ln>
            <a:noFill/>
          </a:ln>
        </p:spPr>
      </p:pic>
      <p:sp>
        <p:nvSpPr>
          <p:cNvPr id="206" name="Google Shape;206;p9"/>
          <p:cNvSpPr txBox="1"/>
          <p:nvPr>
            <p:ph idx="11" type="ftr"/>
          </p:nvPr>
        </p:nvSpPr>
        <p:spPr>
          <a:xfrm>
            <a:off x="0" y="6543793"/>
            <a:ext cx="5417819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SOSIALISASI PIC DAERAH DALAM KEGIATAN KAJIAN PERPUSTAKAAN INDONESIA 2026 (IPLM DAN TKM)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571500" y="719138"/>
            <a:ext cx="11049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Perbandingan metode pengambilan data IPLM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71500" y="6429375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KAJIAN PERPUSTAKAAN INDONESIA 2026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571500" y="1266825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Tahun lalu dan tahun ini</a:t>
            </a:r>
            <a:endParaRPr/>
          </a:p>
        </p:txBody>
      </p:sp>
      <p:graphicFrame>
        <p:nvGraphicFramePr>
          <p:cNvPr id="216" name="Google Shape;216;p10"/>
          <p:cNvGraphicFramePr/>
          <p:nvPr/>
        </p:nvGraphicFramePr>
        <p:xfrm>
          <a:off x="571500" y="18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{A725C365-0DA9-45B6-8982-4B473C1611FD}</a:tableStyleId>
              </a:tblPr>
              <a:tblGrid>
                <a:gridCol w="2333625"/>
                <a:gridCol w="4000500"/>
                <a:gridCol w="4714875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Parameter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4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Tahun Lalu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4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Tahun Ini</a:t>
                      </a:r>
                      <a:endParaRPr b="1" sz="1875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12344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Batas nilai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Tanpa pembatasan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(koleksi, SDM, layanan, dll.)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Pembatasan (capping)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berbasis jenis perpustakaan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6F6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Akurasi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Berisiko menghasilkan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yang tidak rasional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lebih realistis,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tervalidasi, dan terukur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6F6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Lampiran bukti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Wajib hanya pada pilihan</a:t>
                      </a:r>
                      <a:endParaRPr b="0" sz="1725">
                        <a:solidFill>
                          <a:srgbClr val="12344D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atau indikator tertentu</a:t>
                      </a:r>
                      <a:endParaRPr b="0" sz="1725">
                        <a:solidFill>
                          <a:srgbClr val="12344D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Wajib untuk semua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laporan dan aktivitas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6F6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Konsekuensi bukti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tetap terhitung meski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bukti belum lengkap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otomatis gugur jika bukti</a:t>
                      </a:r>
                      <a:endParaRPr b="0" sz="1725">
                        <a:solidFill>
                          <a:srgbClr val="12344D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>
                          <a:solidFill>
                            <a:srgbClr val="12344D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tidak ada dan tidak masuk kalkulasi</a:t>
                      </a:r>
                      <a:endParaRPr b="0" sz="1725">
                        <a:solidFill>
                          <a:srgbClr val="12344D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ED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571500" y="875479"/>
            <a:ext cx="11049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Pembatasan data (capping) tahun ini</a:t>
            </a:r>
            <a:endParaRPr b="1" sz="3150">
              <a:solidFill>
                <a:srgbClr val="1234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71500" y="6429375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KAJIAN PERPUSTAKAAN INDONESIA 2026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71500" y="1576388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 batas maksimal koleksi menurut jenis perpustakaan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71500" y="1952625"/>
            <a:ext cx="4857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006B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4.000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571500" y="2886075"/>
            <a:ext cx="4857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koleksi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71500" y="335280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Perpustakaan SD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477000" y="1952625"/>
            <a:ext cx="514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006B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8.000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6477000" y="2886075"/>
            <a:ext cx="5143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koleksi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477000" y="3352800"/>
            <a:ext cx="5143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Perpustakaan Desa/Kelurahan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571500" y="4238625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Mekanisme pengecualian data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71500" y="4772025"/>
            <a:ext cx="1095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 Jika data melebihi batas kriteria resmi, perpustakaan wajib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melapor kepada Dinas Perpustakaan setempat.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571500" y="5648325"/>
            <a:ext cx="1095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 Data berlebih dicatat dan diverifikasi melalui Formulir Khusus.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523875" y="876300"/>
            <a:ext cx="11049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 verifikasi dan akuntabilitas</a:t>
            </a:r>
            <a:endParaRPr b="1" sz="3150">
              <a:solidFill>
                <a:srgbClr val="1234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71500" y="6429375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KAJIAN PERPUSTAKAAN INDONESIA 2026</a:t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5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571500" y="1952625"/>
            <a:ext cx="110490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06B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Tanpa Bukti, Tanpa Angka !</a:t>
            </a:r>
            <a:endParaRPr b="1" sz="4350">
              <a:solidFill>
                <a:srgbClr val="006B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571500" y="2981325"/>
            <a:ext cx="107632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Seluruh laporan aktivitas dan indikator wajib dilengkapi bukti pendukung.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571500" y="3676650"/>
            <a:ext cx="1076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Konsekuensi dalam perhitungan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571500" y="4210050"/>
            <a:ext cx="1076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Mesin kalkulasi secara otomatis mengeliminasi laporan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yang tidak memiliki lampiran bukti.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571500" y="5372100"/>
            <a:ext cx="142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06B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2047875" y="5353050"/>
            <a:ext cx="9525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234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Menjamin transparansi, validitas, dan kualitas hasil akhir IPLM.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type="title"/>
          </p:nvPr>
        </p:nvSpPr>
        <p:spPr>
          <a:xfrm>
            <a:off x="838200" y="756835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/>
              <a:t>Analisis Data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838200" y="1800000"/>
            <a:ext cx="51816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Transformasi Yeo–Johnson untuk mengurangi skewness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Normalisasi Min–Max 0–1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Penyusunan Sub-Indeks IPLM :</a:t>
            </a:r>
            <a:endParaRPr/>
          </a:p>
          <a:p>
            <a:pPr indent="-228600" lvl="2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Sub_koleksi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Sub_sdm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Sub_pelayanan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Sub_pengelolaan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data analytics company&#10;&#10;Description automatically generated" id="255" name="Google Shape;255;p13"/>
          <p:cNvPicPr preferRelativeResize="0"/>
          <p:nvPr/>
        </p:nvPicPr>
        <p:blipFill rotWithShape="1">
          <a:blip r:embed="rId3">
            <a:alphaModFix/>
          </a:blip>
          <a:srcRect b="0" l="0" r="0" t="11195"/>
          <a:stretch/>
        </p:blipFill>
        <p:spPr>
          <a:xfrm>
            <a:off x="6172200" y="1800000"/>
            <a:ext cx="5181600" cy="45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3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13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KAJIAN PERPUSTAKAAN INDONESIA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>
            <p:ph type="title"/>
          </p:nvPr>
        </p:nvSpPr>
        <p:spPr>
          <a:xfrm>
            <a:off x="0" y="885156"/>
            <a:ext cx="12192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12788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lang="en-US"/>
              <a:t>Analisis Data IPLM</a:t>
            </a:r>
            <a:endParaRPr/>
          </a:p>
        </p:txBody>
      </p:sp>
      <p:pic>
        <p:nvPicPr>
          <p:cNvPr id="263" name="Google Shape;2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2549" y="1008069"/>
            <a:ext cx="4769662" cy="4319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4"/>
          <p:cNvSpPr txBox="1"/>
          <p:nvPr/>
        </p:nvSpPr>
        <p:spPr>
          <a:xfrm>
            <a:off x="701386" y="1997837"/>
            <a:ext cx="6316102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Pengelompokan Dimensi:</a:t>
            </a:r>
            <a:endParaRPr/>
          </a:p>
          <a:p>
            <a:pPr indent="-350838" lvl="0" marL="7127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dim_kepatuhan = rata-rata(sub_koleksi, sub_sdm)</a:t>
            </a:r>
            <a:endParaRPr/>
          </a:p>
          <a:p>
            <a:pPr indent="-350838" lvl="0" marL="7127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dim_kinerja   = rata-rata(sub_pelayanan, sub_pengelolaan)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Bobot: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Kepatuhan 0,30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Kinerja   0,70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701385" y="5327763"/>
            <a:ext cx="95802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Indeks RealScore: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Indeks_Real_0_100 = 100 ×  (0,30×dim_kepatuhan + 0,70×dim_kinerja)</a:t>
            </a:r>
            <a:endParaRPr/>
          </a:p>
        </p:txBody>
      </p:sp>
      <p:sp>
        <p:nvSpPr>
          <p:cNvPr id="266" name="Google Shape;266;p14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/>
              <a:t>KAJIAN PERPUSTAKAAN INDONESIA 2025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>
            <p:ph type="title"/>
          </p:nvPr>
        </p:nvSpPr>
        <p:spPr>
          <a:xfrm>
            <a:off x="816934" y="671778"/>
            <a:ext cx="10515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Pembobotan Berdasarkan jumlah responden</a:t>
            </a:r>
            <a:endParaRPr/>
          </a:p>
        </p:txBody>
      </p:sp>
      <p:sp>
        <p:nvSpPr>
          <p:cNvPr id="272" name="Google Shape;272;p15"/>
          <p:cNvSpPr txBox="1"/>
          <p:nvPr>
            <p:ph idx="1" type="body"/>
          </p:nvPr>
        </p:nvSpPr>
        <p:spPr>
          <a:xfrm>
            <a:off x="838199" y="1800000"/>
            <a:ext cx="10938165" cy="4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Jumlah responden minimum sebesar 68% dimana persentase jumlah responden minimum ini merupakan 2/3 dari populasi data sehingga diharapkan dapat merepresentasi kondisi populasi sebenarnya. Jika daerah yang tidak memenuhi jumlah responden minimal 68% dari total polulasi maka diperlukan penyesuaian nilai indeks berdasarkan jumlah responden yang masuk.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Contoh Perhitungan Indeks akhir untuk jumlah responden yang kurang dari 68%: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Jika Kab/kota X  mempunyai indeks 70 jumlah responden 2 dengan jumlah populasi 68%, maka perhitungan indeks akhir Adalah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15"/>
          <p:cNvSpPr txBox="1"/>
          <p:nvPr>
            <p:ph idx="12" type="sldNum"/>
          </p:nvPr>
        </p:nvSpPr>
        <p:spPr>
          <a:xfrm>
            <a:off x="11472000" y="6498000"/>
            <a:ext cx="7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text on a white background&#10;&#10;AI-generated content may be incorrect." id="274" name="Google Shape;2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8204" y="4146697"/>
            <a:ext cx="5417117" cy="169057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5"/>
          <p:cNvSpPr txBox="1"/>
          <p:nvPr>
            <p:ph idx="11" type="ftr"/>
          </p:nvPr>
        </p:nvSpPr>
        <p:spPr>
          <a:xfrm>
            <a:off x="359999" y="6498000"/>
            <a:ext cx="478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KAJIAN PERPUSTAKAAN INDONESIA 2025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55527"/>
            <a:ext cx="3530649" cy="2442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749" y="2555527"/>
            <a:ext cx="3530649" cy="2442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99" y="2555527"/>
            <a:ext cx="3530649" cy="2442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8317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6"/>
          <p:cNvSpPr txBox="1"/>
          <p:nvPr/>
        </p:nvSpPr>
        <p:spPr>
          <a:xfrm>
            <a:off x="847725" y="3536602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 SemiBold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Pencegahan Anomali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847725" y="3898552"/>
            <a:ext cx="2978199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Mencegah responden ganda, data tidak lengkap, pengisian tidak mandiri, serta pola jawaban yang seragam/tidak wajar.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6" name="Google Shape;28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6974" y="28317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6"/>
          <p:cNvSpPr txBox="1"/>
          <p:nvPr/>
        </p:nvSpPr>
        <p:spPr>
          <a:xfrm>
            <a:off x="4606974" y="3536602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 SemiBold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Kepatuhan Sampel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4606974" y="3898552"/>
            <a:ext cx="2978199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Wajib mengikuti rancangan sampel, kriteria wilayah, dan distribusi responden yang ditetapkan tim pusat.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8366224" y="3536602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 SemiBold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Dokumentasi Resmi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8366224" y="3898552"/>
            <a:ext cx="2978199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Menyimpan jejak administrasi, foto kegiatan, serta bukti pelaksanaan sebagai bagian dari audit kualitas.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1" name="Google Shape;29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312" y="297462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49849" y="297462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09099" y="297462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6"/>
          <p:cNvSpPr txBox="1"/>
          <p:nvPr/>
        </p:nvSpPr>
        <p:spPr>
          <a:xfrm>
            <a:off x="571500" y="1575494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Plus Jakarta Sans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Pengendalian Kualitas TKM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/>
        </p:nvSpPr>
        <p:spPr>
          <a:xfrm>
            <a:off x="1000125" y="2720726"/>
            <a:ext cx="106203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Kelengkapan Data:</a:t>
            </a:r>
            <a:r>
              <a:rPr b="0" i="0" lang="en-US" sz="20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Memastikan seluruh variabel wajib telah diisi tanpa ada yang terlewatkan.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1000125" y="3143101"/>
            <a:ext cx="106203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Konsistensi Variabel:</a:t>
            </a:r>
            <a:r>
              <a:rPr b="0" i="0" lang="en-US" sz="20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Memastikan tidak ada data yang bertentangan antar elemen yang diinput.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1000125" y="3565475"/>
            <a:ext cx="106203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Kewajaran Nilai:</a:t>
            </a:r>
            <a:r>
              <a:rPr b="0" i="0" lang="en-US" sz="20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Memastikan data berada pada rentang logis dan sesuai realita lapangan.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1000125" y="3987849"/>
            <a:ext cx="106203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Kesesuaian Sumber:</a:t>
            </a:r>
            <a:r>
              <a:rPr b="0" i="0" lang="en-US" sz="20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Mengonfirmasi data berasal dari perpustakaan &amp; dokumen resmi yang valid.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1000125" y="4410223"/>
            <a:ext cx="1062037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Keterbandingan Substantif:</a:t>
            </a:r>
            <a:r>
              <a:rPr b="0" i="0" lang="en-US" sz="20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Menjelaskan secara rasional jika ada perubahan signifikan dibanding baseline tahun sebelumnya.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5" name="Google Shape;3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350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573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797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21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2451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7"/>
          <p:cNvSpPr txBox="1"/>
          <p:nvPr/>
        </p:nvSpPr>
        <p:spPr>
          <a:xfrm>
            <a:off x="571500" y="1835587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Plus Jakarta Sans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Pilar Verifikasi Data IPLM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350" y="2307877"/>
            <a:ext cx="27813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8"/>
          <p:cNvSpPr txBox="1"/>
          <p:nvPr/>
        </p:nvSpPr>
        <p:spPr>
          <a:xfrm>
            <a:off x="2345531" y="2888902"/>
            <a:ext cx="7500937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Pengambilan Sampel TKM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2047875" y="3711773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Penentuan Kuota Responden Kabupaten/Kota Menggunakan Rumus Slovin, Sistem Agregasi Provinsi, dan Pengurangan Nilai Penalti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92846"/>
            <a:ext cx="5334000" cy="3043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90750"/>
            <a:ext cx="533400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264521"/>
            <a:ext cx="4705350" cy="75783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885825" y="2607171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Landasan Statistik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885825" y="3102471"/>
            <a:ext cx="47053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Rumus Slovin digunakan untuk menghitung jumlah sampel minimum yang mewakili populasi di tingkat daerah. Memastikan tingkat kepercayaan tinggi dengan tingkat kesalahan (margin of error) yang terkontrol sebesar 5%.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6600825" y="2505075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Ketentuan Parameter</a:t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6600825" y="3000375"/>
            <a:ext cx="47053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Deskripsi Variabel Rumus: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6600825" y="4476750"/>
            <a:ext cx="47053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Hasil kalkulasi Slovin untuk populasi besar menghasilkan standar baku pembulatan sejumlah 400 responden.</a:t>
            </a:r>
            <a:endParaRPr/>
          </a:p>
        </p:txBody>
      </p:sp>
      <p:pic>
        <p:nvPicPr>
          <p:cNvPr descr="image.png" id="331" name="Google Shape;33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4641" y="4455021"/>
            <a:ext cx="1305669" cy="3768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9"/>
          <p:cNvSpPr txBox="1"/>
          <p:nvPr/>
        </p:nvSpPr>
        <p:spPr>
          <a:xfrm>
            <a:off x="6696075" y="340280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6791325" y="3405187"/>
            <a:ext cx="45148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n:</a:t>
            </a: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Jumlah sampel minimum yang dibutuhkan.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6696075" y="37409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6791325" y="3743325"/>
            <a:ext cx="45148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N:</a:t>
            </a: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Jumlah total populasi penduduk daerah.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6696075" y="40790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6791325" y="4081462"/>
            <a:ext cx="45148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e:</a:t>
            </a: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Batas toleransi ketelitian / sampling error (5% = 0,05).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702129" y="1151037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Penerapan Rumus Slovin</a:t>
            </a:r>
            <a:endParaRPr b="1" i="0" sz="255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47962"/>
            <a:ext cx="4419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0"/>
          <p:cNvSpPr txBox="1"/>
          <p:nvPr/>
        </p:nvSpPr>
        <p:spPr>
          <a:xfrm>
            <a:off x="857250" y="3128962"/>
            <a:ext cx="38481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400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857250" y="4271962"/>
            <a:ext cx="384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>
                <a:solidFill>
                  <a:srgbClr val="E0E7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Sampel Target Per Daerah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5467350" y="2524125"/>
            <a:ext cx="6724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 Baku Kabupaten/Kota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5467350" y="3019425"/>
            <a:ext cx="6629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Setiap Kabupaten/Kota wajib mengumpulkan minimum </a:t>
            </a:r>
            <a:r>
              <a:rPr b="1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400 sampel responden</a:t>
            </a: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agar hasil survei valid secara statistik.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5467350" y="3667125"/>
            <a:ext cx="66294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Alasan Penetapan Kuota 400: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5562600" y="40695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5657850" y="4071937"/>
            <a:ext cx="64389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Memenuhi kaidah kualitatif dan kuantitatif survei tingkat nasional.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5562600" y="43886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5657850" y="4391025"/>
            <a:ext cx="64389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Menjamin variabilitas representasi latar belakang masyarakat.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5562600" y="470773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5657850" y="4710112"/>
            <a:ext cx="64389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Menjadi titik dasar acuan perhitungan nilai Indeks TKM Daerah.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571500" y="10668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Kuota Sampel Kab/Kota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/>
          <p:nvPr/>
        </p:nvSpPr>
        <p:spPr>
          <a:xfrm>
            <a:off x="488373" y="1969293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Perhitungan Tingkat Provinsi</a:t>
            </a:r>
            <a:endParaRPr b="0" i="0" sz="180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488373" y="1402556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 Agregasi Provinsi</a:t>
            </a:r>
            <a:endParaRPr b="1" i="0" sz="255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2" y="2717006"/>
            <a:ext cx="5334000" cy="244822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1"/>
          <p:cNvSpPr txBox="1"/>
          <p:nvPr/>
        </p:nvSpPr>
        <p:spPr>
          <a:xfrm>
            <a:off x="185248" y="2509956"/>
            <a:ext cx="610125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Tingkat Provinsi tidak melakukan pengambilan sampel terpisah secara langsung, melainkan menggunakan sistem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agregat data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dari seluruh Kabupaten/Kota di wilayahnya.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Kombinasi Data: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Nilai Provinsi adalah rata-rata tertimbang dari seluruh sampel Kabupaten/Kota.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Ketergantungan Data: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Keberhasilan sampel Provinsi sangat bergantung pada kelengkapan sampel di tiap Kab/Kota.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Keterwakilan Wilayah: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Menggambarkan peta kegemaran membaca provinsi secara utuh.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05050"/>
            <a:ext cx="35306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749" y="2305050"/>
            <a:ext cx="35306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99" y="2305050"/>
            <a:ext cx="35306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5812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 txBox="1"/>
          <p:nvPr/>
        </p:nvSpPr>
        <p:spPr>
          <a:xfrm>
            <a:off x="847725" y="3305175"/>
            <a:ext cx="31271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Sanksi Penalti</a:t>
            </a:r>
            <a:endParaRPr/>
          </a:p>
        </p:txBody>
      </p:sp>
      <p:sp>
        <p:nvSpPr>
          <p:cNvPr id="373" name="Google Shape;373;p22"/>
          <p:cNvSpPr txBox="1"/>
          <p:nvPr/>
        </p:nvSpPr>
        <p:spPr>
          <a:xfrm>
            <a:off x="847725" y="3914775"/>
            <a:ext cx="2978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Daerah yang mengumpulkan sampel kurang dari 400 responden secara otomatis dikenakan pengurangan poin/skor pada hasil akhir nilai TKM.</a:t>
            </a:r>
            <a:endParaRPr/>
          </a:p>
        </p:txBody>
      </p:sp>
      <p:pic>
        <p:nvPicPr>
          <p:cNvPr descr="image.png" id="374" name="Google Shape;37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6974" y="25812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2"/>
          <p:cNvSpPr txBox="1"/>
          <p:nvPr/>
        </p:nvSpPr>
        <p:spPr>
          <a:xfrm>
            <a:off x="4606974" y="3305175"/>
            <a:ext cx="31271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Dampak Akurasi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4606974" y="3914775"/>
            <a:ext cx="2978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Sampel yang tidak lengkap menurunkan tingkat keandalan data statistik (margin of error membesar), sehingga bobot penilaian diturunkan.</a:t>
            </a:r>
            <a:endParaRPr/>
          </a:p>
        </p:txBody>
      </p:sp>
      <p:pic>
        <p:nvPicPr>
          <p:cNvPr descr="image.png" id="377" name="Google Shape;37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6224" y="25812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2"/>
          <p:cNvSpPr txBox="1"/>
          <p:nvPr/>
        </p:nvSpPr>
        <p:spPr>
          <a:xfrm>
            <a:off x="8366224" y="3305175"/>
            <a:ext cx="31271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Dampak ke Provinsi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8366224" y="3914775"/>
            <a:ext cx="2978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Gagalnya satu Kabupaten/Kota mencapai kuota akan langsung menurunkan akumulasi bobot rata-rata pada indeks TKM Provinsi.</a:t>
            </a:r>
            <a:endParaRPr/>
          </a:p>
        </p:txBody>
      </p:sp>
      <p:pic>
        <p:nvPicPr>
          <p:cNvPr descr="image.png" id="380" name="Google Shape;38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1075" y="27146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80524" y="27146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 txBox="1"/>
          <p:nvPr/>
        </p:nvSpPr>
        <p:spPr>
          <a:xfrm>
            <a:off x="590550" y="1290637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Aturan Penalti Kuota</a:t>
            </a:r>
            <a:endParaRPr b="1" i="0" sz="255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p23"/>
          <p:cNvGraphicFramePr/>
          <p:nvPr/>
        </p:nvGraphicFramePr>
        <p:xfrm>
          <a:off x="571500" y="2428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{DAFAAA4C-7DE7-4E7E-822A-92EBA2D56388}</a:tableStyleId>
              </a:tblPr>
              <a:tblGrid>
                <a:gridCol w="2413850"/>
                <a:gridCol w="2117525"/>
                <a:gridCol w="1865250"/>
                <a:gridCol w="4652375"/>
              </a:tblGrid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Capaian Sampel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Persentase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Status Validitas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Dampak Terhadap Nilai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400 Responden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 Penuh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Nilai Utuh (100% Bobot)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 – 399 Responden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75% – 99%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 Bersyarat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Pengurangan Nilai Proporsional (Penalti Ringan)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200 – 299 Responden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50% – 74%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Kurang Valid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Pengurangan Nilai Signifikan (Penalti Sedang)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200 Responden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50%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Tidak Valid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Penalti Maksimal / Data Gugur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88" name="Google Shape;388;p23"/>
          <p:cNvSpPr/>
          <p:nvPr/>
        </p:nvSpPr>
        <p:spPr>
          <a:xfrm>
            <a:off x="571500" y="2957512"/>
            <a:ext cx="24138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2985343" y="2957512"/>
            <a:ext cx="2117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5102869" y="2957512"/>
            <a:ext cx="1865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968132" y="2957512"/>
            <a:ext cx="465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571500" y="3514725"/>
            <a:ext cx="24138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2985343" y="3514725"/>
            <a:ext cx="2117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5102869" y="3514725"/>
            <a:ext cx="1865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6968132" y="3514725"/>
            <a:ext cx="465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571500" y="4071937"/>
            <a:ext cx="24138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2985343" y="4071937"/>
            <a:ext cx="2117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5102869" y="4071937"/>
            <a:ext cx="1865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6968132" y="4071937"/>
            <a:ext cx="465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571500" y="4629150"/>
            <a:ext cx="24138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2985343" y="4629150"/>
            <a:ext cx="2117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102869" y="4629150"/>
            <a:ext cx="1865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6968132" y="4629150"/>
            <a:ext cx="465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571500" y="5186362"/>
            <a:ext cx="24138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2985343" y="5186362"/>
            <a:ext cx="2117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5102869" y="5186362"/>
            <a:ext cx="1865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6968132" y="5186362"/>
            <a:ext cx="465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571500" y="1426369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Skema Penilaian &amp; Penalti</a:t>
            </a:r>
            <a:endParaRPr b="1" i="0" sz="255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 txBox="1"/>
          <p:nvPr>
            <p:ph idx="12" type="sldNum"/>
          </p:nvPr>
        </p:nvSpPr>
        <p:spPr>
          <a:xfrm>
            <a:off x="11709755" y="6551888"/>
            <a:ext cx="257175" cy="23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60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1047751" y="6602314"/>
            <a:ext cx="30505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KAJIAN PERPUSTAKAAN INDONESIA TAHUN 2025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214630" y="3314795"/>
            <a:ext cx="3476625" cy="513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 TKM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Tahun lalu : 83 Pertanyaan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Tahun ini : 63 Pertanyaan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8744" y="838200"/>
            <a:ext cx="8468626" cy="546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57637"/>
            <a:ext cx="254124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7419" y="2633662"/>
            <a:ext cx="254124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339" y="3957637"/>
            <a:ext cx="254124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9259" y="2633662"/>
            <a:ext cx="254124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5"/>
          <p:cNvSpPr/>
          <p:nvPr/>
        </p:nvSpPr>
        <p:spPr>
          <a:xfrm>
            <a:off x="571500" y="37957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5"/>
          <p:cNvSpPr txBox="1"/>
          <p:nvPr/>
        </p:nvSpPr>
        <p:spPr>
          <a:xfrm>
            <a:off x="677990" y="4119562"/>
            <a:ext cx="23282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Penetapan Target</a:t>
            </a:r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733425" y="4433887"/>
            <a:ext cx="2217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Penetapan kuota 400 sampel per Kab/Kota dengan rumus Slovin.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3513910" y="2795587"/>
            <a:ext cx="2328259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Survei Lapangan</a:t>
            </a:r>
            <a:endParaRPr b="0" i="0" sz="135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(September – Nopember)</a:t>
            </a:r>
            <a:endParaRPr b="0" i="0" sz="135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9" name="Google Shape;429;p25"/>
          <p:cNvSpPr txBox="1"/>
          <p:nvPr/>
        </p:nvSpPr>
        <p:spPr>
          <a:xfrm>
            <a:off x="3569344" y="3215415"/>
            <a:ext cx="2217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Pengumpulan data responden di seluruh Indonesia</a:t>
            </a:r>
            <a:endParaRPr b="0" i="0" sz="105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6349830" y="4119562"/>
            <a:ext cx="2328259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Audit &amp; Verifikasi</a:t>
            </a:r>
            <a:endParaRPr b="0" i="0" sz="135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(Oktober – Nopember)</a:t>
            </a:r>
            <a:endParaRPr b="0" i="0" sz="135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1" name="Google Shape;431;p25"/>
          <p:cNvSpPr txBox="1"/>
          <p:nvPr/>
        </p:nvSpPr>
        <p:spPr>
          <a:xfrm>
            <a:off x="6405264" y="4552639"/>
            <a:ext cx="22173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Pemeriksaan kecukupan data &amp; identifikasi potensi kekurangan kuota.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9185750" y="2795587"/>
            <a:ext cx="2328259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Perhitungan Akhir</a:t>
            </a:r>
            <a:endParaRPr b="0" i="0" sz="135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(Desember)</a:t>
            </a:r>
            <a:endParaRPr b="0" i="0" sz="135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3" name="Google Shape;433;p25"/>
          <p:cNvSpPr txBox="1"/>
          <p:nvPr/>
        </p:nvSpPr>
        <p:spPr>
          <a:xfrm>
            <a:off x="9241184" y="3181163"/>
            <a:ext cx="2217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Penerapan penalti bagi kuota tak lengkap &amp; agregasi provinsi.</a:t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571500" y="1328737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Alur Pengumpulan Data</a:t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1746870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4582790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7418709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10254629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 txBox="1"/>
          <p:nvPr>
            <p:ph type="title"/>
          </p:nvPr>
        </p:nvSpPr>
        <p:spPr>
          <a:xfrm>
            <a:off x="4341538" y="2596413"/>
            <a:ext cx="3508924" cy="68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2025-01-15T08:56:53Z</dcterms:created>
  <dc:creator>Prakas Agrestian</dc:creator>
</cp:coreProperties>
</file>