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</p:sldIdLst>
  <p:sldSz type="screen16x9" cy="6858000" cx="12192000"/>
  <p:notesSz cx="6858000" cy="9144000"/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tableStyles" Target="tableStyle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7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85D099B5-FE56-466D-8C08-38BBCF56180C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7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67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7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67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B9131B9C-C5C6-45D6-9D1B-947DDC585429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Google Shape;226;g3e22fa4b8ba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599" name="Google Shape;227;g3e22fa4b8ba_0_100:notes"/>
          <p:cNvSpPr>
            <a:spLocks noChangeAspect="1" noRot="1" noGrp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Google Shape;40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08" name="Google Shape;405;p28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Google Shape;404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3" name="Google Shape;405;p28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Google Shape;412;g3e3f9e3480e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/>
        </p:spPr>
        <p:txBody>
          <a:bodyPr anchor="t" anchorCtr="0" bIns="45700" lIns="91425" rIns="91425" spcFirstLastPara="1" tIns="45700" wrap="square">
            <a:noAutofit/>
          </a:bodyPr>
          <a:p>
            <a:pPr algn="l" indent="0" lvl="0" marL="0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8617" name="Google Shape;413;g3e3f9e3480e_0_39:notes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ah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19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algn="ctr" indent="0" marL="0">
              <a:buNone/>
              <a:defRPr sz="2400"/>
            </a:lvl1pPr>
            <a:lvl2pPr algn="ctr" indent="0" marL="457200">
              <a:buNone/>
              <a:defRPr sz="2000"/>
            </a:lvl2pPr>
            <a:lvl3pPr algn="ctr" indent="0" marL="914400">
              <a:buNone/>
              <a:defRPr sz="1800"/>
            </a:lvl3pPr>
            <a:lvl4pPr algn="ctr" indent="0" marL="1371600">
              <a:buNone/>
              <a:defRPr sz="1600"/>
            </a:lvl4pPr>
            <a:lvl5pPr algn="ctr" indent="0" marL="1828800">
              <a:buNone/>
              <a:defRPr sz="1600"/>
            </a:lvl5pPr>
            <a:lvl6pPr algn="ctr" indent="0" marL="2286000">
              <a:buNone/>
              <a:defRPr sz="1600"/>
            </a:lvl6pPr>
            <a:lvl7pPr algn="ctr" indent="0" marL="2743200">
              <a:buNone/>
              <a:defRPr sz="1600"/>
            </a:lvl7pPr>
            <a:lvl8pPr algn="ctr" indent="0" marL="3200400">
              <a:buNone/>
              <a:defRPr sz="1600"/>
            </a:lvl8pPr>
            <a:lvl9pPr algn="ctr" indent="0" marL="3657600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6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3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9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indent="0" marL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4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5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0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61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63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4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65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66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4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2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2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8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7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7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7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8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39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indent="0" marL="0">
              <a:buNone/>
              <a:defRPr sz="1600"/>
            </a:lvl1pPr>
            <a:lvl2pPr indent="0" marL="457200">
              <a:buNone/>
              <a:defRPr sz="1400"/>
            </a:lvl2pPr>
            <a:lvl3pPr indent="0" marL="914400">
              <a:buNone/>
              <a:defRPr sz="1200"/>
            </a:lvl3pPr>
            <a:lvl4pPr indent="0" marL="1371600">
              <a:buNone/>
              <a:defRPr sz="1000"/>
            </a:lvl4pPr>
            <a:lvl5pPr indent="0" marL="1828800">
              <a:buNone/>
              <a:defRPr sz="1000"/>
            </a:lvl5pPr>
            <a:lvl6pPr indent="0" marL="2286000">
              <a:buNone/>
              <a:defRPr sz="1000"/>
            </a:lvl6pPr>
            <a:lvl7pPr indent="0" marL="2743200">
              <a:buNone/>
              <a:defRPr sz="1000"/>
            </a:lvl7pPr>
            <a:lvl8pPr indent="0" marL="3200400">
              <a:buNone/>
              <a:defRPr sz="1000"/>
            </a:lvl8pPr>
            <a:lvl9pPr indent="0" marL="365760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4864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4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4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4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8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63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104863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2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Google Shape;37;p34"/>
          <p:cNvSpPr txBox="1">
            <a:spLocks noGrp="1"/>
          </p:cNvSpPr>
          <p:nvPr>
            <p:ph type="title"/>
          </p:nvPr>
        </p:nvSpPr>
        <p:spPr>
          <a:xfrm>
            <a:off x="838200" y="810000"/>
            <a:ext cx="10515600" cy="9000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rmAutofit/>
          </a:bodyPr>
          <a:lstStyle>
            <a:lvl1pPr algn="l"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1" name="Google Shape;38;p34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552315"/>
          </a:xfrm>
          <a:prstGeom prst="rect"/>
          <a:noFill/>
          <a:ln>
            <a:noFill/>
          </a:ln>
        </p:spPr>
        <p:txBody>
          <a:bodyPr anchor="t" anchorCtr="0" bIns="45700" lIns="91425" rIns="91425" spcFirstLastPara="1" tIns="45700" wrap="square">
            <a:normAutofit/>
          </a:bodyPr>
          <a:lstStyle>
            <a:lvl1pPr algn="l" indent="-342900" lvl="0" marL="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lvl1pPr>
            <a:lvl2pPr algn="l" indent="-342900" lvl="1" marL="914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lvl2pPr>
            <a:lvl3pPr algn="l" indent="-342900" lvl="2" marL="1371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lvl3pPr>
            <a:lvl4pPr algn="l" indent="-342900" lvl="3" marL="1828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lvl4pPr>
            <a:lvl5pPr algn="l" indent="-342900" lvl="4" marL="22860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lay"/>
              <a:buAutoNum type="arabicPeriod"/>
            </a:lvl5pPr>
            <a:lvl6pPr algn="l" indent="-342900" lvl="5" marL="27432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6pPr>
            <a:lvl7pPr algn="l" indent="-342900" lvl="6" marL="32004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7pPr>
            <a:lvl8pPr algn="l" indent="-342900" lvl="7" marL="36576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8pPr>
            <a:lvl9pPr algn="l" indent="-342900" lvl="8" marL="411480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lvl9pPr>
          </a:lstStyle>
          <a:p/>
        </p:txBody>
      </p:sp>
      <p:sp>
        <p:nvSpPr>
          <p:cNvPr id="1048602" name="Google Shape;39;p34"/>
          <p:cNvSpPr txBox="1">
            <a:spLocks noGrp="1"/>
          </p:cNvSpPr>
          <p:nvPr>
            <p:ph type="ftr" idx="11"/>
          </p:nvPr>
        </p:nvSpPr>
        <p:spPr>
          <a:xfrm>
            <a:off x="359999" y="6498000"/>
            <a:ext cx="47844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lvl="0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algn="l" lvl="1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algn="l" lvl="2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algn="l" lvl="3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algn="l" lvl="4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algn="l" lvl="5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algn="l" lvl="6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algn="l" lvl="7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algn="l" lvl="8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/>
        </p:txBody>
      </p:sp>
      <p:sp>
        <p:nvSpPr>
          <p:cNvPr id="1048603" name="Google Shape;40;p34"/>
          <p:cNvSpPr txBox="1">
            <a:spLocks noGrp="1"/>
          </p:cNvSpPr>
          <p:nvPr>
            <p:ph type="sldNum" idx="12"/>
          </p:nvPr>
        </p:nvSpPr>
        <p:spPr>
          <a:xfrm>
            <a:off x="11472000" y="6498000"/>
            <a:ext cx="720000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lstStyle>
            <a:lvl1pPr algn="ctr" indent="0" lvl="0" marL="0">
              <a:spcBef>
                <a:spcPts val="0"/>
              </a:spcBef>
              <a:buNone/>
            </a:lvl1pPr>
            <a:lvl2pPr algn="ctr" indent="0" lvl="1" marL="0">
              <a:spcBef>
                <a:spcPts val="0"/>
              </a:spcBef>
              <a:buNone/>
            </a:lvl2pPr>
            <a:lvl3pPr algn="ctr" indent="0" lvl="2" marL="0">
              <a:spcBef>
                <a:spcPts val="0"/>
              </a:spcBef>
              <a:buNone/>
            </a:lvl3pPr>
            <a:lvl4pPr algn="ctr" indent="0" lvl="3" marL="0">
              <a:spcBef>
                <a:spcPts val="0"/>
              </a:spcBef>
              <a:buNone/>
            </a:lvl4pPr>
            <a:lvl5pPr algn="ctr" indent="0" lvl="4" marL="0">
              <a:spcBef>
                <a:spcPts val="0"/>
              </a:spcBef>
              <a:buNone/>
            </a:lvl5pPr>
            <a:lvl6pPr algn="ctr" indent="0" lvl="5" marL="0">
              <a:spcBef>
                <a:spcPts val="0"/>
              </a:spcBef>
              <a:buNone/>
            </a:lvl6pPr>
            <a:lvl7pPr algn="ctr" indent="0" lvl="6" marL="0">
              <a:spcBef>
                <a:spcPts val="0"/>
              </a:spcBef>
              <a:buNone/>
            </a:lvl7pPr>
            <a:lvl8pPr algn="ctr" indent="0" lvl="7" marL="0">
              <a:spcBef>
                <a:spcPts val="0"/>
              </a:spcBef>
              <a:buNone/>
            </a:lvl8pPr>
            <a:lvl9pPr algn="ctr" indent="0" lvl="8" marL="0">
              <a:spcBef>
                <a:spcPts val="0"/>
              </a:spcBef>
              <a:buNone/>
            </a:lvl9pPr>
          </a:lstStyle>
          <a:p>
            <a:pPr algn="ctr" indent="0" lvl="0" marL="0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A9A9E-B84D-4822-8915-6BD38EC39F79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BD6F84-68C1-4A41-9E66-67340037FFF3}" type="slidenum">
              <a:rPr lang="en-US" smtClean="0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slideLayout" Target="../slideLayouts/slideLayout7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Google Shape;229;g3e22fa4b8ba_0_100"/>
          <p:cNvSpPr/>
          <p:nvPr/>
        </p:nvSpPr>
        <p:spPr>
          <a:xfrm>
            <a:off x="0" y="6498000"/>
            <a:ext cx="12192000" cy="359982"/>
          </a:xfrm>
          <a:custGeom>
            <a:avLst/>
            <a:ahLst/>
            <a:rect l="l" t="t" r="r" b="b"/>
            <a:pathLst>
              <a:path w="24384000" h="719963" extrusionOk="0">
                <a:moveTo>
                  <a:pt x="0" y="0"/>
                </a:moveTo>
                <a:lnTo>
                  <a:pt x="24384000" y="0"/>
                </a:lnTo>
                <a:lnTo>
                  <a:pt x="24384000" y="719963"/>
                </a:lnTo>
                <a:lnTo>
                  <a:pt x="0" y="719963"/>
                </a:lnTo>
                <a:close/>
              </a:path>
            </a:pathLst>
          </a:custGeom>
          <a:gradFill>
            <a:gsLst>
              <a:gs pos="0">
                <a:srgbClr val="E8E8E8"/>
              </a:gs>
              <a:gs pos="100000">
                <a:srgbClr val="808080"/>
              </a:gs>
            </a:gsLst>
            <a:lin ang="0" scaled="0"/>
          </a:gradFill>
          <a:ln>
            <a:noFill/>
          </a:ln>
        </p:spPr>
      </p:sp>
      <p:sp>
        <p:nvSpPr>
          <p:cNvPr id="1048585" name="Google Shape;230;g3e22fa4b8ba_0_100"/>
          <p:cNvSpPr/>
          <p:nvPr/>
        </p:nvSpPr>
        <p:spPr>
          <a:xfrm>
            <a:off x="0" y="0"/>
            <a:ext cx="12192000" cy="720027"/>
          </a:xfrm>
          <a:custGeom>
            <a:avLst/>
            <a:ahLst/>
            <a:rect l="l" t="t" r="r" b="b"/>
            <a:pathLst>
              <a:path w="24384000" h="1440053" extrusionOk="0">
                <a:moveTo>
                  <a:pt x="0" y="0"/>
                </a:moveTo>
                <a:lnTo>
                  <a:pt x="24384000" y="0"/>
                </a:lnTo>
                <a:lnTo>
                  <a:pt x="24384000" y="1440053"/>
                </a:lnTo>
                <a:lnTo>
                  <a:pt x="0" y="1440053"/>
                </a:lnTo>
                <a:close/>
              </a:path>
            </a:pathLst>
          </a:custGeom>
          <a:gradFill>
            <a:gsLst>
              <a:gs pos="0">
                <a:srgbClr val="179948"/>
              </a:gs>
              <a:gs pos="50000">
                <a:srgbClr val="179948"/>
              </a:gs>
              <a:gs pos="70000">
                <a:srgbClr val="E8E8E8"/>
              </a:gs>
              <a:gs pos="90000">
                <a:srgbClr val="164997"/>
              </a:gs>
              <a:gs pos="100000">
                <a:srgbClr val="164997"/>
              </a:gs>
            </a:gsLst>
            <a:lin ang="0" scaled="0"/>
          </a:gradFill>
          <a:ln>
            <a:noFill/>
          </a:ln>
        </p:spPr>
      </p:sp>
      <p:sp>
        <p:nvSpPr>
          <p:cNvPr id="1048586" name="Google Shape;231;g3e22fa4b8ba_0_100" descr="A black background with white text  Description automatically generated"/>
          <p:cNvSpPr/>
          <p:nvPr/>
        </p:nvSpPr>
        <p:spPr>
          <a:xfrm>
            <a:off x="10332000" y="198000"/>
            <a:ext cx="1501997" cy="360450"/>
          </a:xfrm>
          <a:custGeom>
            <a:avLst/>
            <a:ahLst/>
            <a:rect l="l" t="t" r="r" b="b"/>
            <a:pathLst>
              <a:path w="2250183" h="540000" extrusionOk="0">
                <a:moveTo>
                  <a:pt x="0" y="0"/>
                </a:moveTo>
                <a:lnTo>
                  <a:pt x="2250183" y="0"/>
                </a:lnTo>
                <a:lnTo>
                  <a:pt x="2250183" y="540000"/>
                </a:lnTo>
                <a:lnTo>
                  <a:pt x="0" y="54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1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8587" name="Google Shape;232;g3e22fa4b8ba_0_100" descr="A black background with white text  Description automatically generated"/>
          <p:cNvSpPr/>
          <p:nvPr/>
        </p:nvSpPr>
        <p:spPr>
          <a:xfrm>
            <a:off x="360000" y="90000"/>
            <a:ext cx="1791238" cy="540675"/>
          </a:xfrm>
          <a:custGeom>
            <a:avLst/>
            <a:ahLst/>
            <a:rect l="l" t="t" r="r" b="b"/>
            <a:pathLst>
              <a:path w="2683503" h="810000" extrusionOk="0">
                <a:moveTo>
                  <a:pt x="0" y="0"/>
                </a:moveTo>
                <a:lnTo>
                  <a:pt x="2683503" y="0"/>
                </a:lnTo>
                <a:lnTo>
                  <a:pt x="2683503" y="810000"/>
                </a:lnTo>
                <a:lnTo>
                  <a:pt x="0" y="810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8588" name="Google Shape;233;g3e22fa4b8ba_0_100"/>
          <p:cNvSpPr/>
          <p:nvPr/>
        </p:nvSpPr>
        <p:spPr>
          <a:xfrm>
            <a:off x="5503847" y="6631200"/>
            <a:ext cx="1185786" cy="108135"/>
          </a:xfrm>
          <a:custGeom>
            <a:avLst/>
            <a:ahLst/>
            <a:rect l="l" t="t" r="r" b="b"/>
            <a:pathLst>
              <a:path w="1776459" h="162000" extrusionOk="0">
                <a:moveTo>
                  <a:pt x="0" y="0"/>
                </a:moveTo>
                <a:lnTo>
                  <a:pt x="1776459" y="0"/>
                </a:lnTo>
                <a:lnTo>
                  <a:pt x="1776459" y="162000"/>
                </a:lnTo>
                <a:lnTo>
                  <a:pt x="0" y="16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8589" name="Google Shape;234;g3e22fa4b8ba_0_100"/>
          <p:cNvSpPr/>
          <p:nvPr/>
        </p:nvSpPr>
        <p:spPr>
          <a:xfrm>
            <a:off x="7466678" y="6631200"/>
            <a:ext cx="3522928" cy="108135"/>
          </a:xfrm>
          <a:custGeom>
            <a:avLst/>
            <a:ahLst/>
            <a:rect l="l" t="t" r="r" b="b"/>
            <a:pathLst>
              <a:path w="5277795" h="162000" extrusionOk="0">
                <a:moveTo>
                  <a:pt x="0" y="0"/>
                </a:moveTo>
                <a:lnTo>
                  <a:pt x="5277795" y="0"/>
                </a:lnTo>
                <a:lnTo>
                  <a:pt x="5277795" y="162000"/>
                </a:lnTo>
                <a:lnTo>
                  <a:pt x="0" y="16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4">
              <a:alphaModFix/>
            </a:blip>
            <a:stretch>
              <a:fillRect l="-10" r="-10"/>
            </a:stretch>
          </a:blipFill>
          <a:ln>
            <a:noFill/>
          </a:ln>
        </p:spPr>
      </p:sp>
      <p:sp>
        <p:nvSpPr>
          <p:cNvPr id="1048590" name="Google Shape;235;g3e22fa4b8ba_0_100"/>
          <p:cNvSpPr/>
          <p:nvPr/>
        </p:nvSpPr>
        <p:spPr>
          <a:xfrm>
            <a:off x="-2" y="711518"/>
            <a:ext cx="12192000" cy="5786501"/>
          </a:xfrm>
          <a:custGeom>
            <a:avLst/>
            <a:ahLst/>
            <a:rect l="l" t="t" r="r" b="b"/>
            <a:pathLst>
              <a:path w="24384000" h="11573002" extrusionOk="0">
                <a:moveTo>
                  <a:pt x="0" y="0"/>
                </a:moveTo>
                <a:lnTo>
                  <a:pt x="24384000" y="0"/>
                </a:lnTo>
                <a:lnTo>
                  <a:pt x="24384000" y="11573002"/>
                </a:lnTo>
                <a:lnTo>
                  <a:pt x="0" y="11573002"/>
                </a:lnTo>
                <a:close/>
              </a:path>
            </a:pathLst>
          </a:custGeom>
          <a:solidFill>
            <a:srgbClr val="E6E6E6"/>
          </a:solidFill>
          <a:ln>
            <a:noFill/>
          </a:ln>
        </p:spPr>
      </p:sp>
      <p:sp>
        <p:nvSpPr>
          <p:cNvPr id="1048591" name="Google Shape;236;g3e22fa4b8ba_0_100" descr="A screenshot of a video game  Description automatically generated"/>
          <p:cNvSpPr/>
          <p:nvPr/>
        </p:nvSpPr>
        <p:spPr>
          <a:xfrm>
            <a:off x="0" y="3014571"/>
            <a:ext cx="12207240" cy="3487783"/>
          </a:xfrm>
          <a:custGeom>
            <a:avLst/>
            <a:ahLst/>
            <a:rect l="l" t="t" r="r" b="b"/>
            <a:pathLst>
              <a:path w="18288000" h="5225143" extrusionOk="0">
                <a:moveTo>
                  <a:pt x="0" y="0"/>
                </a:moveTo>
                <a:lnTo>
                  <a:pt x="18288000" y="0"/>
                </a:lnTo>
                <a:lnTo>
                  <a:pt x="18288000" y="5225144"/>
                </a:lnTo>
                <a:lnTo>
                  <a:pt x="0" y="52251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xmlns:r="http://schemas.openxmlformats.org/officeDocument/2006/relationships" r:embed="rId5">
              <a:alphaModFix/>
            </a:blip>
            <a:stretch>
              <a:fillRect/>
            </a:stretch>
          </a:blipFill>
          <a:ln>
            <a:noFill/>
          </a:ln>
        </p:spPr>
      </p:sp>
      <p:grpSp>
        <p:nvGrpSpPr>
          <p:cNvPr id="21" name="Google Shape;237;g3e22fa4b8ba_0_100"/>
          <p:cNvGrpSpPr/>
          <p:nvPr/>
        </p:nvGrpSpPr>
        <p:grpSpPr>
          <a:xfrm>
            <a:off x="831850" y="810000"/>
            <a:ext cx="10515600" cy="3240038"/>
            <a:chOff x="0" y="0"/>
            <a:chExt cx="21031200" cy="6480075"/>
          </a:xfrm>
        </p:grpSpPr>
        <p:sp>
          <p:nvSpPr>
            <p:cNvPr id="1048592" name="Google Shape;238;g3e22fa4b8ba_0_100"/>
            <p:cNvSpPr/>
            <p:nvPr/>
          </p:nvSpPr>
          <p:spPr>
            <a:xfrm>
              <a:off x="0" y="0"/>
              <a:ext cx="21031200" cy="6480000"/>
            </a:xfrm>
            <a:custGeom>
              <a:avLst/>
              <a:ahLst/>
              <a:rect l="l" t="t" r="r" b="b"/>
              <a:pathLst>
                <a:path w="21031200" h="6480000" extrusionOk="0">
                  <a:moveTo>
                    <a:pt x="0" y="0"/>
                  </a:moveTo>
                  <a:lnTo>
                    <a:pt x="21031200" y="0"/>
                  </a:lnTo>
                  <a:lnTo>
                    <a:pt x="21031200" y="6480000"/>
                  </a:lnTo>
                  <a:lnTo>
                    <a:pt x="0" y="648000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048593" name="Google Shape;239;g3e22fa4b8ba_0_100"/>
            <p:cNvSpPr txBox="1"/>
            <p:nvPr/>
          </p:nvSpPr>
          <p:spPr>
            <a:xfrm>
              <a:off x="0" y="66675"/>
              <a:ext cx="21031200" cy="6413400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cap="none" dirty="0" sz="4000" i="0" lang="en-US" err="1" strike="noStrike" u="none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Bukti</a:t>
              </a:r>
              <a:r>
                <a:rPr b="1" cap="none" dirty="0" sz="4000" i="0" lang="en-US" strike="noStrike" u="none" smtClean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b="1" cap="none" dirty="0" sz="4000" i="0" lang="en-US" err="1" strike="noStrike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Dukung</a:t>
              </a:r>
              <a:r>
                <a:rPr b="1" cap="none" dirty="0" sz="4000" i="0" lang="en-US" strike="noStrike" u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IPLM</a:t>
              </a:r>
              <a:endParaRPr dirty="0" sz="900"/>
            </a:p>
          </p:txBody>
        </p:sp>
      </p:grpSp>
      <p:grpSp>
        <p:nvGrpSpPr>
          <p:cNvPr id="22" name="Google Shape;240;g3e22fa4b8ba_0_100"/>
          <p:cNvGrpSpPr/>
          <p:nvPr/>
        </p:nvGrpSpPr>
        <p:grpSpPr>
          <a:xfrm>
            <a:off x="359999" y="6498000"/>
            <a:ext cx="4784400" cy="365125"/>
            <a:chOff x="0" y="0"/>
            <a:chExt cx="9568800" cy="730250"/>
          </a:xfrm>
        </p:grpSpPr>
        <p:sp>
          <p:nvSpPr>
            <p:cNvPr id="1048594" name="Google Shape;241;g3e22fa4b8ba_0_100"/>
            <p:cNvSpPr/>
            <p:nvPr/>
          </p:nvSpPr>
          <p:spPr>
            <a:xfrm>
              <a:off x="0" y="0"/>
              <a:ext cx="9568800" cy="730250"/>
            </a:xfrm>
            <a:custGeom>
              <a:avLst/>
              <a:ahLst/>
              <a:rect l="l" t="t" r="r" b="b"/>
              <a:pathLst>
                <a:path w="9568800" h="730250" extrusionOk="0">
                  <a:moveTo>
                    <a:pt x="0" y="0"/>
                  </a:moveTo>
                  <a:lnTo>
                    <a:pt x="9568800" y="0"/>
                  </a:lnTo>
                  <a:lnTo>
                    <a:pt x="95688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048595" name="Google Shape;242;g3e22fa4b8ba_0_100"/>
            <p:cNvSpPr txBox="1"/>
            <p:nvPr/>
          </p:nvSpPr>
          <p:spPr>
            <a:xfrm>
              <a:off x="0" y="0"/>
              <a:ext cx="9568800" cy="730200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lvl="0"/>
              <a:r>
                <a:rPr dirty="0" sz="1000" lang="en-US">
                  <a:sym typeface="+mn-ea"/>
                </a:rPr>
                <a:t>SOSIALISASI IPLM</a:t>
              </a:r>
              <a:endParaRPr dirty="0" sz="1000" lang="en-US"/>
            </a:p>
          </p:txBody>
        </p:sp>
      </p:grpSp>
      <p:grpSp>
        <p:nvGrpSpPr>
          <p:cNvPr id="23" name="Google Shape;243;g3e22fa4b8ba_0_100"/>
          <p:cNvGrpSpPr/>
          <p:nvPr/>
        </p:nvGrpSpPr>
        <p:grpSpPr>
          <a:xfrm>
            <a:off x="11472000" y="6498000"/>
            <a:ext cx="720000" cy="365125"/>
            <a:chOff x="0" y="0"/>
            <a:chExt cx="1440000" cy="730250"/>
          </a:xfrm>
        </p:grpSpPr>
        <p:sp>
          <p:nvSpPr>
            <p:cNvPr id="1048596" name="Google Shape;244;g3e22fa4b8ba_0_100"/>
            <p:cNvSpPr/>
            <p:nvPr/>
          </p:nvSpPr>
          <p:spPr>
            <a:xfrm>
              <a:off x="0" y="0"/>
              <a:ext cx="1440000" cy="730250"/>
            </a:xfrm>
            <a:custGeom>
              <a:avLst/>
              <a:ahLst/>
              <a:rect l="l" t="t" r="r" b="b"/>
              <a:pathLst>
                <a:path w="1440000" h="730250" extrusionOk="0">
                  <a:moveTo>
                    <a:pt x="0" y="0"/>
                  </a:moveTo>
                  <a:lnTo>
                    <a:pt x="1440000" y="0"/>
                  </a:lnTo>
                  <a:lnTo>
                    <a:pt x="1440000" y="730250"/>
                  </a:lnTo>
                  <a:lnTo>
                    <a:pt x="0" y="730250"/>
                  </a:lnTo>
                  <a:close/>
                </a:path>
              </a:pathLst>
            </a:custGeom>
            <a:noFill/>
            <a:ln>
              <a:noFill/>
            </a:ln>
          </p:spPr>
        </p:sp>
        <p:sp>
          <p:nvSpPr>
            <p:cNvPr id="1048597" name="Google Shape;245;g3e22fa4b8ba_0_100"/>
            <p:cNvSpPr txBox="1"/>
            <p:nvPr/>
          </p:nvSpPr>
          <p:spPr>
            <a:xfrm>
              <a:off x="0" y="0"/>
              <a:ext cx="1440000" cy="730200"/>
            </a:xfrm>
            <a:prstGeom prst="rect"/>
            <a:noFill/>
            <a:ln>
              <a:noFill/>
            </a:ln>
          </p:spPr>
          <p:txBody>
            <a:bodyPr anchor="ctr" anchorCtr="0" bIns="0" lIns="0" rIns="0" spcFirstLastPara="1" tIns="0" wrap="square">
              <a:noAutofit/>
            </a:bodyPr>
            <a:p>
              <a:pPr algn="ctr" indent="0" lvl="0" marL="0" marR="0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dirty="0" sz="1200" lang="en-US">
                  <a:solidFill>
                    <a:srgbClr val="FFFFFF"/>
                  </a:solidFill>
                </a:rPr>
                <a:t>28</a:t>
              </a:r>
              <a:endParaRPr dirty="0" sz="900"/>
            </a:p>
          </p:txBody>
        </p:sp>
      </p:grp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7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4" name="Google Shape;407;p28"/>
          <p:cNvSpPr txBox="1">
            <a:spLocks noGrp="1"/>
          </p:cNvSpPr>
          <p:nvPr>
            <p:ph type="title"/>
          </p:nvPr>
        </p:nvSpPr>
        <p:spPr>
          <a:xfrm>
            <a:off x="439963" y="740252"/>
            <a:ext cx="7402200" cy="5292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dirty="0" sz="3600" lang="en-US">
                <a:latin typeface="Arial"/>
                <a:ea typeface="Arial"/>
                <a:cs typeface="Arial"/>
                <a:sym typeface="Arial"/>
              </a:rPr>
              <a:t>Bukti </a:t>
            </a:r>
            <a:r>
              <a:rPr dirty="0" sz="3600" lang="en-US" err="1">
                <a:latin typeface="Arial"/>
                <a:ea typeface="Arial"/>
                <a:cs typeface="Arial"/>
                <a:sym typeface="Arial"/>
              </a:rPr>
              <a:t>Dukung</a:t>
            </a:r>
            <a:r>
              <a:rPr dirty="0" sz="3600" lang="en-US"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dirty="0" sz="3600" lang="en-US" err="1">
                <a:latin typeface="Arial"/>
                <a:ea typeface="Arial"/>
                <a:cs typeface="Arial"/>
                <a:sym typeface="Arial"/>
              </a:rPr>
              <a:t>Diperlukan</a:t>
            </a:r>
            <a:endParaRPr dirty="0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05" name="Google Shape;408;p28"/>
          <p:cNvSpPr txBox="1">
            <a:spLocks noGrp="1"/>
          </p:cNvSpPr>
          <p:nvPr>
            <p:ph type="sldNum" idx="12"/>
          </p:nvPr>
        </p:nvSpPr>
        <p:spPr>
          <a:xfrm>
            <a:off x="11709755" y="6551888"/>
            <a:ext cx="257175" cy="23583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</a:t>
            </a:fld>
          </a:p>
        </p:txBody>
      </p:sp>
      <p:sp>
        <p:nvSpPr>
          <p:cNvPr id="1048606" name="Google Shape;410;p28"/>
          <p:cNvSpPr txBox="1"/>
          <p:nvPr/>
        </p:nvSpPr>
        <p:spPr>
          <a:xfrm>
            <a:off x="1" y="6493124"/>
            <a:ext cx="5145088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lvl="0"/>
            <a:r>
              <a:rPr dirty="0" sz="1000" lang="en-US">
                <a:sym typeface="+mn-ea"/>
              </a:rPr>
              <a:t>SOSIALISASI IPLM</a:t>
            </a:r>
            <a:endParaRPr dirty="0" sz="1000" lang="en-US"/>
          </a:p>
        </p:txBody>
      </p:sp>
      <p:graphicFrame>
        <p:nvGraphicFramePr>
          <p:cNvPr id="4194304" name="Table 1"/>
          <p:cNvGraphicFramePr>
            <a:graphicFrameLocks noGrp="1"/>
          </p:cNvGraphicFramePr>
          <p:nvPr/>
        </p:nvGraphicFramePr>
        <p:xfrm>
          <a:off x="272555" y="1269452"/>
          <a:ext cx="11646890" cy="50399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5259"/>
                <a:gridCol w="6644626"/>
                <a:gridCol w="3827005"/>
              </a:tblGrid>
              <a:tr h="228101">
                <a:tc>
                  <a:txBody>
                    <a:bodyPr/>
                    <a:p>
                      <a:pPr algn="ctr" fontAlgn="t">
                        <a:buNone/>
                      </a:pPr>
                      <a:r>
                        <a:rPr b="1" dirty="0" sz="1200" lang="en-ID" err="1" strike="noStrike" u="none">
                          <a:effectLst/>
                        </a:rPr>
                        <a:t>Variabel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t">
                        <a:buNone/>
                      </a:pPr>
                      <a:r>
                        <a:rPr b="1" dirty="0" sz="1200" lang="en-ID" err="1" strike="noStrike" u="none">
                          <a:effectLst/>
                        </a:rPr>
                        <a:t>Indikator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b="1" dirty="0" sz="1200" lang="en-ID" strike="noStrike" u="none">
                          <a:effectLst/>
                        </a:rPr>
                        <a:t>Bukti </a:t>
                      </a:r>
                      <a:r>
                        <a:rPr b="1" dirty="0" sz="1200" lang="en-ID" err="1" strike="noStrike" u="none">
                          <a:effectLst/>
                        </a:rPr>
                        <a:t>Dukung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228101">
                <a:tc rowSpan="11">
                  <a:txBody>
                    <a:bodyPr/>
                    <a:p>
                      <a:pPr algn="ctr" fontAlgn="ctr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koleksi dalam format Excel/foto koleksi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Penambahan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Penambahan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Penambahan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Penambahan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45144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Anggaran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Pengembangan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dan Digital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Berasal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dari</a:t>
                      </a:r>
                      <a:r>
                        <a:rPr dirty="0" sz="1200" lang="en-ID" strike="noStrike" u="none">
                          <a:effectLst/>
                        </a:rPr>
                        <a:t> Dana BOS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 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4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Anggaran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Pengembangan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dan Digital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Berasal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dari</a:t>
                      </a:r>
                      <a:r>
                        <a:rPr dirty="0" sz="1200" lang="en-ID" strike="noStrike" u="none">
                          <a:effectLst/>
                        </a:rPr>
                        <a:t> Dana non BOS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 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10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Anggaran Pengembangan Koleksi Tercetak dan Digital Dalam 1 Tahun Terakhir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 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41">
                <a:tc rowSpan="4">
                  <a:txBody>
                    <a:bodyPr/>
                    <a:p>
                      <a:pPr algn="ctr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Tenaga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Tenaga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Memiliki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Kualifikasi</a:t>
                      </a:r>
                      <a:r>
                        <a:rPr dirty="0" sz="1200" lang="en-ID" strike="noStrike" u="none">
                          <a:effectLst/>
                        </a:rPr>
                        <a:t> Pendidikan </a:t>
                      </a:r>
                      <a:r>
                        <a:rPr dirty="0" sz="1200" lang="en-ID" err="1" strike="noStrike" u="none">
                          <a:effectLst/>
                        </a:rPr>
                        <a:t>Ilmu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/>
                      </a:r>
                      <a:br>
                        <a:rPr dirty="0" sz="1200" lang="en-ID" strike="noStrike" u="none">
                          <a:effectLst/>
                        </a:rPr>
                      </a:b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yang berisi identitas tenaga perpustakaan dalam format Excel, Scan/Copy ijasah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8358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Tenaga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Tidak </a:t>
                      </a:r>
                      <a:r>
                        <a:rPr dirty="0" sz="1200" lang="en-ID" err="1" strike="noStrike" u="none">
                          <a:effectLst/>
                        </a:rPr>
                        <a:t>Memiliki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Kualifikasi</a:t>
                      </a:r>
                      <a:r>
                        <a:rPr dirty="0" sz="1200" lang="en-ID" strike="noStrike" u="none">
                          <a:effectLst/>
                        </a:rPr>
                        <a:t> Pendidikan </a:t>
                      </a:r>
                      <a:r>
                        <a:rPr dirty="0" sz="1200" lang="en-ID" err="1" strike="noStrike" u="none">
                          <a:effectLst/>
                        </a:rPr>
                        <a:t>Ilmu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67478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Tenaga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Mengikuti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Kegiatan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Pengembangan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Keprofesian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Berkelanjutan</a:t>
                      </a:r>
                      <a:r>
                        <a:rPr dirty="0" sz="1200" lang="en-ID" strike="noStrike" u="none">
                          <a:effectLst/>
                        </a:rPr>
                        <a:t> (PKB) di </a:t>
                      </a:r>
                      <a:r>
                        <a:rPr dirty="0" sz="1200" lang="en-ID" err="1" strike="noStrike" u="none">
                          <a:effectLst/>
                        </a:rPr>
                        <a:t>Bidang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yang berisi identitas tenaga perpustakaan yang mengikuti PKB dalam format Excel, scan/foto sertifikat PKB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41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Anggaran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Pengembangan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Keprofesian</a:t>
                      </a:r>
                      <a:r>
                        <a:rPr dirty="0" sz="1200" lang="en-ID" strike="noStrike" u="none">
                          <a:effectLst/>
                        </a:rPr>
                        <a:t> (</a:t>
                      </a:r>
                      <a:r>
                        <a:rPr dirty="0" sz="1200" lang="en-ID" err="1" strike="noStrike" u="none">
                          <a:effectLst/>
                        </a:rPr>
                        <a:t>Diklat</a:t>
                      </a:r>
                      <a:r>
                        <a:rPr dirty="0" sz="1200" lang="en-ID" strike="noStrike" u="none">
                          <a:effectLst/>
                        </a:rPr>
                        <a:t>) </a:t>
                      </a:r>
                      <a:br>
                        <a:rPr dirty="0" sz="1200" lang="en-ID" strike="noStrike" u="none">
                          <a:effectLst/>
                        </a:rPr>
                      </a:br>
                      <a:r>
                        <a:rPr dirty="0" sz="1200" lang="en-ID" strike="noStrike" u="none">
                          <a:effectLst/>
                        </a:rPr>
                        <a:t>Tenaga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 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9" name="Google Shape;407;p28"/>
          <p:cNvSpPr txBox="1">
            <a:spLocks noGrp="1"/>
          </p:cNvSpPr>
          <p:nvPr>
            <p:ph type="title"/>
          </p:nvPr>
        </p:nvSpPr>
        <p:spPr>
          <a:xfrm>
            <a:off x="439963" y="740252"/>
            <a:ext cx="7402200" cy="529200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normAutofit/>
          </a:bodyPr>
          <a:p>
            <a:pPr algn="l" indent="0" lvl="0" mar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rebuchet MS"/>
              <a:buNone/>
            </a:pPr>
            <a:r>
              <a:rPr dirty="0" sz="3600" lang="en-US">
                <a:latin typeface="Arial"/>
                <a:ea typeface="Arial"/>
                <a:cs typeface="Arial"/>
                <a:sym typeface="Arial"/>
              </a:rPr>
              <a:t>Bukti </a:t>
            </a:r>
            <a:r>
              <a:rPr dirty="0" sz="3600" lang="en-US" err="1">
                <a:latin typeface="Arial"/>
                <a:ea typeface="Arial"/>
                <a:cs typeface="Arial"/>
                <a:sym typeface="Arial"/>
              </a:rPr>
              <a:t>Dukung</a:t>
            </a:r>
            <a:r>
              <a:rPr dirty="0" sz="3600" lang="en-US"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dirty="0" sz="3600" lang="en-US" err="1">
                <a:latin typeface="Arial"/>
                <a:ea typeface="Arial"/>
                <a:cs typeface="Arial"/>
                <a:sym typeface="Arial"/>
              </a:rPr>
              <a:t>Diperlukan</a:t>
            </a:r>
            <a:endParaRPr dirty="0" sz="3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610" name="Google Shape;408;p28"/>
          <p:cNvSpPr txBox="1">
            <a:spLocks noGrp="1"/>
          </p:cNvSpPr>
          <p:nvPr>
            <p:ph type="sldNum" idx="12"/>
          </p:nvPr>
        </p:nvSpPr>
        <p:spPr>
          <a:xfrm>
            <a:off x="11709755" y="6551888"/>
            <a:ext cx="257175" cy="235838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</a:p>
        </p:txBody>
      </p:sp>
      <p:sp>
        <p:nvSpPr>
          <p:cNvPr id="1048611" name="Google Shape;410;p28"/>
          <p:cNvSpPr txBox="1"/>
          <p:nvPr/>
        </p:nvSpPr>
        <p:spPr>
          <a:xfrm>
            <a:off x="1" y="6493124"/>
            <a:ext cx="5145088" cy="365125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lvl="0"/>
            <a:r>
              <a:rPr dirty="0" sz="1000" lang="en-US">
                <a:sym typeface="+mn-ea"/>
              </a:rPr>
              <a:t>SOSIALISASI IPLM</a:t>
            </a:r>
            <a:endParaRPr dirty="0" sz="1000" lang="en-US"/>
          </a:p>
        </p:txBody>
      </p:sp>
      <p:graphicFrame>
        <p:nvGraphicFramePr>
          <p:cNvPr id="4194305" name="Table 1"/>
          <p:cNvGraphicFramePr>
            <a:graphicFrameLocks noGrp="1"/>
          </p:cNvGraphicFramePr>
          <p:nvPr/>
        </p:nvGraphicFramePr>
        <p:xfrm>
          <a:off x="272555" y="1269452"/>
          <a:ext cx="11646890" cy="50307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75259"/>
                <a:gridCol w="6681202"/>
                <a:gridCol w="3790429"/>
              </a:tblGrid>
              <a:tr h="302470">
                <a:tc>
                  <a:txBody>
                    <a:bodyPr/>
                    <a:p>
                      <a:pPr algn="ctr" fontAlgn="t">
                        <a:buNone/>
                      </a:pPr>
                      <a:r>
                        <a:rPr b="1" dirty="0" sz="1200" lang="en-ID" err="1" strike="noStrike" u="none">
                          <a:effectLst/>
                        </a:rPr>
                        <a:t>Variabel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t">
                        <a:buNone/>
                      </a:pPr>
                      <a:r>
                        <a:rPr b="1" dirty="0" sz="1200" lang="en-ID" err="1" strike="noStrike" u="none">
                          <a:effectLst/>
                        </a:rPr>
                        <a:t>Indikator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 fontAlgn="b">
                        <a:buNone/>
                      </a:pPr>
                      <a:r>
                        <a:rPr b="1" dirty="0" sz="1200" lang="en-ID" strike="noStrike" u="none">
                          <a:effectLst/>
                        </a:rPr>
                        <a:t>Bukti </a:t>
                      </a:r>
                      <a:r>
                        <a:rPr b="1" dirty="0" sz="1200" lang="en-ID" err="1" strike="noStrike" u="none">
                          <a:effectLst/>
                        </a:rPr>
                        <a:t>Dukung</a:t>
                      </a:r>
                      <a:endParaRPr b="1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</a:tr>
              <a:tr h="302897">
                <a:tc rowSpan="7">
                  <a:txBody>
                    <a:bodyPr/>
                    <a:p>
                      <a:pPr algn="ctr" fontAlgn="ctr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Pelayanan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Dimanfaatkan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p>
                      <a:pPr algn="l" fontAlgn="ctr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Daftar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format Excel/</a:t>
                      </a:r>
                      <a:r>
                        <a:rPr dirty="0" sz="1200" lang="en-ID" err="1" strike="noStrike" u="none">
                          <a:effectLst/>
                        </a:rPr>
                        <a:t>foto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1640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Tercetak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Dimanfaatkan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472568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Judul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 yang </a:t>
                      </a:r>
                      <a:br>
                        <a:rPr dirty="0" sz="1200" lang="en-ID" strike="noStrike" u="none">
                          <a:effectLst/>
                        </a:rPr>
                      </a:br>
                      <a:r>
                        <a:rPr dirty="0" sz="1200" lang="en-ID" err="1" strike="noStrike" u="none">
                          <a:effectLst/>
                        </a:rPr>
                        <a:t>Dimanfaatkan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293697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Eksemplar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Koleksi</a:t>
                      </a:r>
                      <a:r>
                        <a:rPr dirty="0" sz="1200" lang="en-ID" strike="noStrike" u="none">
                          <a:effectLst/>
                        </a:rPr>
                        <a:t> Digital yang </a:t>
                      </a:r>
                      <a:r>
                        <a:rPr dirty="0" sz="1200" lang="en-ID" err="1" strike="noStrike" u="none">
                          <a:effectLst/>
                        </a:rPr>
                        <a:t>Dimanfaatkan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p>
                      <a:endParaRPr lang="en-ID"/>
                    </a:p>
                  </a:txBody>
                </a:tc>
              </a:tr>
              <a:tr h="373183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Peserta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Kegiatan</a:t>
                      </a:r>
                      <a:r>
                        <a:rPr dirty="0" sz="1200" lang="en-ID" strike="noStrike" u="none">
                          <a:effectLst/>
                        </a:rPr>
                        <a:t> Penguatan </a:t>
                      </a:r>
                      <a:r>
                        <a:rPr dirty="0" sz="1200" lang="en-ID" err="1" strike="noStrike" u="none">
                          <a:effectLst/>
                        </a:rPr>
                        <a:t>Budaya</a:t>
                      </a:r>
                      <a:r>
                        <a:rPr dirty="0" sz="1200" lang="en-ID" strike="noStrike" u="none">
                          <a:effectLst/>
                        </a:rPr>
                        <a:t> Baca dan </a:t>
                      </a:r>
                      <a:r>
                        <a:rPr dirty="0" sz="1200" lang="en-ID" err="1" strike="noStrike" u="none">
                          <a:effectLst/>
                        </a:rPr>
                        <a:t>Peningkatan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Kecakapan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Literasi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Absensi, foto peserta saat kegiatan berlangsung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568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Pemustaka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dari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Satuan</a:t>
                      </a:r>
                      <a:r>
                        <a:rPr dirty="0" sz="1200" lang="en-ID" strike="noStrike" u="none">
                          <a:effectLst/>
                        </a:rPr>
                        <a:t> Pendidikan </a:t>
                      </a:r>
                      <a:r>
                        <a:rPr dirty="0" sz="1200" lang="en-ID" err="1" strike="noStrike" u="none">
                          <a:effectLst/>
                        </a:rPr>
                        <a:t>atau</a:t>
                      </a:r>
                      <a:r>
                        <a:rPr dirty="0" sz="1200" lang="en-ID" strike="noStrike" u="none">
                          <a:effectLst/>
                        </a:rPr>
                        <a:t> Masyarakat yang </a:t>
                      </a:r>
                      <a:r>
                        <a:rPr dirty="0" sz="1200" lang="en-ID" err="1" strike="noStrike" u="none">
                          <a:effectLst/>
                        </a:rPr>
                        <a:t>Memanfaatkan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Secara</a:t>
                      </a:r>
                      <a:r>
                        <a:rPr dirty="0" sz="1200" lang="en-ID" strike="noStrike" u="none">
                          <a:effectLst/>
                        </a:rPr>
                        <a:t> Luring dan/</a:t>
                      </a:r>
                      <a:r>
                        <a:rPr dirty="0" sz="1200" lang="en-ID" err="1" strike="noStrike" u="none">
                          <a:effectLst/>
                        </a:rPr>
                        <a:t>atau</a:t>
                      </a:r>
                      <a:r>
                        <a:rPr dirty="0" sz="1200" lang="en-ID" strike="noStrike" u="none">
                          <a:effectLst/>
                        </a:rPr>
                        <a:t> Daring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pemustaka yang mengunjungi perpustakaan  dalam format Excel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568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dirty="0" sz="1200" lang="en-ID" err="1" strike="noStrike" u="none">
                          <a:effectLst/>
                        </a:rPr>
                        <a:t>Jumlah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Pemustaka</a:t>
                      </a:r>
                      <a:r>
                        <a:rPr dirty="0" sz="1200" lang="en-ID" strike="noStrike" u="none">
                          <a:effectLst/>
                        </a:rPr>
                        <a:t> yang </a:t>
                      </a:r>
                      <a:r>
                        <a:rPr dirty="0" sz="1200" lang="en-ID" err="1" strike="noStrike" u="none">
                          <a:effectLst/>
                        </a:rPr>
                        <a:t>Menggunakan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Fasilitas</a:t>
                      </a:r>
                      <a:r>
                        <a:rPr dirty="0" sz="1200" lang="en-ID" strike="noStrike" u="none">
                          <a:effectLst/>
                        </a:rPr>
                        <a:t> Sarana TIK di </a:t>
                      </a:r>
                      <a:r>
                        <a:rPr dirty="0" sz="1200" lang="en-ID" err="1" strike="noStrike" u="none">
                          <a:effectLst/>
                        </a:rPr>
                        <a:t>Perpustakaan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Dalam</a:t>
                      </a:r>
                      <a:r>
                        <a:rPr dirty="0" sz="1200" lang="en-ID" strike="noStrike" u="none">
                          <a:effectLst/>
                        </a:rPr>
                        <a:t> 1 </a:t>
                      </a:r>
                      <a:r>
                        <a:rPr dirty="0" sz="1200" lang="en-ID" err="1" strike="noStrike" u="none">
                          <a:effectLst/>
                        </a:rPr>
                        <a:t>Tahun</a:t>
                      </a:r>
                      <a:r>
                        <a:rPr dirty="0" sz="1200" lang="en-ID" strike="noStrike" u="none">
                          <a:effectLst/>
                        </a:rPr>
                        <a:t> </a:t>
                      </a:r>
                      <a:r>
                        <a:rPr dirty="0" sz="1200" lang="en-ID" err="1" strike="noStrike" u="none">
                          <a:effectLst/>
                        </a:rPr>
                        <a:t>Terakhir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pemustaka yang menggunakan sarana TIK perpustakaan  dalam format Excel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568">
                <a:tc rowSpan="6">
                  <a:txBody>
                    <a:bodyPr/>
                    <a:p>
                      <a:pPr algn="ctr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Penyelenggaraan dan Pengelolaan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Kegiatan Penguatan Budaya Baca dan Peningkatan Kecakapan Literasi Dalam 1 Tahun Terakhir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kegiatan yang diselenggarakan dalam format Excel, foto kegiatan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568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Kolaborasi/Kerja Sama Perpustakaan dengan Pihak Eksternal Dalam Rangka Peningkatan Pelayanan dan Pengembangan Perpustakaan Dalam 1 Tahun Terakhir (Kegiatan Kerja Sama)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MoU, foto saat advokasi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0500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Variasi Layanan yang Tersedia (Fisik dan Digital)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layanan dalam format Excel, foto layanan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845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Kebijakan dan Prosedur Pelayanan Perpustakaan (Dokumen)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dokumen dalam format Excel, foto dokumen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845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Peraturan (Kebijakan) Tentang Perpustakaan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ctr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Daftar dokumen dalam format Excel, foto dokumen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845">
                <a:tc vMerge="1">
                  <a:txBody>
                    <a:bodyPr/>
                    <a:p>
                      <a:endParaRPr lang="en-ID"/>
                    </a:p>
                  </a:txBody>
                </a:tc>
                <a:tc>
                  <a:txBody>
                    <a:bodyPr/>
                    <a:p>
                      <a:pPr algn="l" fontAlgn="t">
                        <a:buNone/>
                      </a:pPr>
                      <a:r>
                        <a:rPr sz="1200" lang="en-ID" strike="noStrike" u="none">
                          <a:effectLst/>
                        </a:rPr>
                        <a:t>Jumlah Anggaran untuk Peningkatan Pelayanan dan Pengelolaan Perpustakaan Selama 1 Tahun Terakhir</a:t>
                      </a:r>
                      <a:endParaRPr b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fontAlgn="b">
                        <a:buNone/>
                      </a:pPr>
                      <a:r>
                        <a:rPr dirty="0" sz="1200" lang="en-ID" strike="noStrike" u="none">
                          <a:effectLst/>
                        </a:rPr>
                        <a:t> </a:t>
                      </a:r>
                      <a:endParaRPr b="0" dirty="0" sz="1200" i="0" lang="en-ID" strike="noStrike" u="non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98" marR="3898" marT="389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Google Shape;415;g3e3f9e3480e_0_39"/>
          <p:cNvSpPr txBox="1">
            <a:spLocks noGrp="1"/>
          </p:cNvSpPr>
          <p:nvPr>
            <p:ph type="sldNum" idx="12"/>
          </p:nvPr>
        </p:nvSpPr>
        <p:spPr>
          <a:xfrm>
            <a:off x="11709755" y="6551888"/>
            <a:ext cx="257100" cy="211581"/>
          </a:xfrm>
          <a:prstGeom prst="rect"/>
          <a:noFill/>
          <a:ln>
            <a:noFill/>
          </a:ln>
        </p:spPr>
        <p:txBody>
          <a:bodyPr anchor="t" anchorCtr="0" bIns="0" lIns="0" rIns="0" spcFirstLastPara="1" tIns="0" wrap="square">
            <a:spAutoFit/>
          </a:bodyPr>
          <a:p>
            <a:pPr algn="ctr" indent="0" lvl="0" marL="0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4</a:t>
            </a:fld>
          </a:p>
        </p:txBody>
      </p:sp>
      <p:sp>
        <p:nvSpPr>
          <p:cNvPr id="1048615" name="Google Shape;416;g3e3f9e3480e_0_39"/>
          <p:cNvSpPr txBox="1"/>
          <p:nvPr/>
        </p:nvSpPr>
        <p:spPr>
          <a:xfrm>
            <a:off x="1" y="6493124"/>
            <a:ext cx="5145000" cy="365100"/>
          </a:xfrm>
          <a:prstGeom prst="rect"/>
          <a:noFill/>
          <a:ln>
            <a:noFill/>
          </a:ln>
        </p:spPr>
        <p:txBody>
          <a:bodyPr anchor="ctr" anchorCtr="0" bIns="45700" lIns="91425" rIns="91425" spcFirstLastPara="1" tIns="45700" wrap="square">
            <a:noAutofit/>
          </a:bodyPr>
          <a:p>
            <a:pPr algn="ctr" lvl="0"/>
            <a:r>
              <a:rPr dirty="0" sz="1000" lang="en-US">
                <a:sym typeface="+mn-ea"/>
              </a:rPr>
              <a:t>SOSIALISASI IPLM</a:t>
            </a:r>
            <a:endParaRPr dirty="0" sz="1000" lang="en-US"/>
          </a:p>
        </p:txBody>
      </p:sp>
      <p:pic>
        <p:nvPicPr>
          <p:cNvPr id="2097152" name="Google Shape;417;g3e3f9e3480e_0_39"/>
          <p:cNvPicPr preferRelativeResize="0">
            <a:picLocks/>
          </p:cNvPicPr>
          <p:nvPr/>
        </p:nvPicPr>
        <p:blipFill>
          <a:blip xmlns:r="http://schemas.openxmlformats.org/officeDocument/2006/relationships" r:embed="rId1">
            <a:alphaModFix/>
          </a:blip>
          <a:stretch>
            <a:fillRect/>
          </a:stretch>
        </p:blipFill>
        <p:spPr>
          <a:xfrm>
            <a:off x="0" y="732775"/>
            <a:ext cx="12192000" cy="5760351"/>
          </a:xfrm>
          <a:prstGeom prst="rect"/>
          <a:noFill/>
          <a:ln>
            <a:noFill/>
          </a:ln>
        </p:spPr>
      </p:pic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PowerPoint Presentation</dc:title>
  <dc:creator>word6</dc:creator>
  <cp:lastModifiedBy>word6</cp:lastModifiedBy>
  <dcterms:created xsi:type="dcterms:W3CDTF">2026-09-28T19:43:37Z</dcterms:created>
  <dcterms:modified xsi:type="dcterms:W3CDTF">2026-09-30T02:21:50Z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feac79d8a7994252b7c8cb8871150732_23</vt:lpwstr>
  </property>
</Properties>
</file>